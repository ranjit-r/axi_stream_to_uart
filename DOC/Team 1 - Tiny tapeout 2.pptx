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500" r:id="rId2"/>
    <p:sldId id="501" r:id="rId3"/>
    <p:sldId id="502" r:id="rId4"/>
    <p:sldId id="503" r:id="rId5"/>
    <p:sldId id="504" r:id="rId6"/>
    <p:sldId id="508" r:id="rId7"/>
    <p:sldId id="505" r:id="rId8"/>
    <p:sldId id="506" r:id="rId9"/>
    <p:sldId id="507" r:id="rId10"/>
    <p:sldId id="509" r:id="rId11"/>
    <p:sldId id="510" r:id="rId12"/>
    <p:sldId id="518" r:id="rId13"/>
    <p:sldId id="511" r:id="rId14"/>
    <p:sldId id="512" r:id="rId15"/>
    <p:sldId id="513" r:id="rId16"/>
    <p:sldId id="520" r:id="rId17"/>
    <p:sldId id="514" r:id="rId18"/>
    <p:sldId id="519" r:id="rId19"/>
    <p:sldId id="515" r:id="rId20"/>
    <p:sldId id="516" r:id="rId21"/>
    <p:sldId id="51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55A"/>
    <a:srgbClr val="111414"/>
    <a:srgbClr val="82B553"/>
    <a:srgbClr val="FFFF99"/>
    <a:srgbClr val="E0E4E7"/>
    <a:srgbClr val="DCFFE5"/>
    <a:srgbClr val="F1FBF2"/>
    <a:srgbClr val="EFEF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88"/>
    <p:restoredTop sz="94652"/>
  </p:normalViewPr>
  <p:slideViewPr>
    <p:cSldViewPr snapToGrid="0">
      <p:cViewPr>
        <p:scale>
          <a:sx n="76" d="100"/>
          <a:sy n="76" d="100"/>
        </p:scale>
        <p:origin x="280" y="5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4A7A6F-75DE-479C-B54F-D5A5144A7768}" type="datetimeFigureOut">
              <a:rPr lang="en-IN" smtClean="0"/>
              <a:t>04-11-2025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8B43F3-904B-4D66-BCC4-85CA0AC2AD18}" type="slidenum">
              <a:rPr lang="en-IN" smtClean="0"/>
              <a:t>‹#›</a:t>
            </a:fld>
            <a:endParaRPr lang="en-IN"/>
          </a:p>
        </p:txBody>
      </p:sp>
      <p:sp>
        <p:nvSpPr>
          <p:cNvPr id="8" name="Header Placeholder 7">
            <a:extLst>
              <a:ext uri="{FF2B5EF4-FFF2-40B4-BE49-F238E27FC236}">
                <a16:creationId xmlns:a16="http://schemas.microsoft.com/office/drawing/2014/main" id="{11DA1060-2FE2-DC35-6750-A8D5552B58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Tree>
    <p:extLst>
      <p:ext uri="{BB962C8B-B14F-4D97-AF65-F5344CB8AC3E}">
        <p14:creationId xmlns:p14="http://schemas.microsoft.com/office/powerpoint/2010/main" val="787156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AFB56-735F-8142-B62D-7BE4EB76029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7CCA9F8-951D-4948-96E6-8EED61943C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5C4ABE7-FE91-864D-9DC8-0D2C6B7ABB60}"/>
              </a:ext>
            </a:extLst>
          </p:cNvPr>
          <p:cNvSpPr>
            <a:spLocks noGrp="1"/>
          </p:cNvSpPr>
          <p:nvPr>
            <p:ph type="dt" sz="half" idx="10"/>
          </p:nvPr>
        </p:nvSpPr>
        <p:spPr/>
        <p:txBody>
          <a:bodyPr/>
          <a:lstStyle/>
          <a:p>
            <a:fld id="{E429491A-B3AF-1544-8045-EEBAFF8B681B}" type="datetimeFigureOut">
              <a:rPr lang="en-US" smtClean="0"/>
              <a:t>11/4/2025</a:t>
            </a:fld>
            <a:endParaRPr lang="en-US"/>
          </a:p>
        </p:txBody>
      </p:sp>
      <p:sp>
        <p:nvSpPr>
          <p:cNvPr id="5" name="Footer Placeholder 4">
            <a:extLst>
              <a:ext uri="{FF2B5EF4-FFF2-40B4-BE49-F238E27FC236}">
                <a16:creationId xmlns:a16="http://schemas.microsoft.com/office/drawing/2014/main" id="{82C42529-1394-1F44-858D-C49A4A20CC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F131DA-3B38-BB40-825A-DD9ECAB88B3A}"/>
              </a:ext>
            </a:extLst>
          </p:cNvPr>
          <p:cNvSpPr>
            <a:spLocks noGrp="1"/>
          </p:cNvSpPr>
          <p:nvPr>
            <p:ph type="sldNum" sz="quarter" idx="12"/>
          </p:nvPr>
        </p:nvSpPr>
        <p:spPr/>
        <p:txBody>
          <a:bodyPr/>
          <a:lstStyle/>
          <a:p>
            <a:fld id="{1F0E8E9C-89D2-E340-BE3D-F63EB4BAA25C}" type="slidenum">
              <a:rPr lang="en-US" smtClean="0"/>
              <a:t>‹#›</a:t>
            </a:fld>
            <a:endParaRPr lang="en-US"/>
          </a:p>
        </p:txBody>
      </p:sp>
    </p:spTree>
    <p:extLst>
      <p:ext uri="{BB962C8B-B14F-4D97-AF65-F5344CB8AC3E}">
        <p14:creationId xmlns:p14="http://schemas.microsoft.com/office/powerpoint/2010/main" val="30964994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E1299-D0CB-884F-9013-B3E9D92AE07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7B2BD68-7969-C442-976C-83711122BF5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2B9A1E2-F3FE-C042-A4A6-5BBF231A30A6}"/>
              </a:ext>
            </a:extLst>
          </p:cNvPr>
          <p:cNvSpPr>
            <a:spLocks noGrp="1"/>
          </p:cNvSpPr>
          <p:nvPr>
            <p:ph type="dt" sz="half" idx="10"/>
          </p:nvPr>
        </p:nvSpPr>
        <p:spPr/>
        <p:txBody>
          <a:bodyPr/>
          <a:lstStyle/>
          <a:p>
            <a:fld id="{E429491A-B3AF-1544-8045-EEBAFF8B681B}" type="datetimeFigureOut">
              <a:rPr lang="en-US" smtClean="0"/>
              <a:t>11/4/2025</a:t>
            </a:fld>
            <a:endParaRPr lang="en-US"/>
          </a:p>
        </p:txBody>
      </p:sp>
      <p:sp>
        <p:nvSpPr>
          <p:cNvPr id="5" name="Footer Placeholder 4">
            <a:extLst>
              <a:ext uri="{FF2B5EF4-FFF2-40B4-BE49-F238E27FC236}">
                <a16:creationId xmlns:a16="http://schemas.microsoft.com/office/drawing/2014/main" id="{6D206877-E896-F748-96A0-52E508B9CE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07AD81-2F1B-EE46-A912-0564DECF27DC}"/>
              </a:ext>
            </a:extLst>
          </p:cNvPr>
          <p:cNvSpPr>
            <a:spLocks noGrp="1"/>
          </p:cNvSpPr>
          <p:nvPr>
            <p:ph type="sldNum" sz="quarter" idx="12"/>
          </p:nvPr>
        </p:nvSpPr>
        <p:spPr/>
        <p:txBody>
          <a:bodyPr/>
          <a:lstStyle/>
          <a:p>
            <a:fld id="{1F0E8E9C-89D2-E340-BE3D-F63EB4BAA25C}" type="slidenum">
              <a:rPr lang="en-US" smtClean="0"/>
              <a:t>‹#›</a:t>
            </a:fld>
            <a:endParaRPr lang="en-US"/>
          </a:p>
        </p:txBody>
      </p:sp>
    </p:spTree>
    <p:extLst>
      <p:ext uri="{BB962C8B-B14F-4D97-AF65-F5344CB8AC3E}">
        <p14:creationId xmlns:p14="http://schemas.microsoft.com/office/powerpoint/2010/main" val="1535695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89AD9-9566-114F-867D-7AAE35F5E0B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C58FCA1-38B3-6E4B-AF7E-D0123ED307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F2BFFE6-2802-F544-9528-42E88A4C883C}"/>
              </a:ext>
            </a:extLst>
          </p:cNvPr>
          <p:cNvSpPr>
            <a:spLocks noGrp="1"/>
          </p:cNvSpPr>
          <p:nvPr>
            <p:ph type="dt" sz="half" idx="10"/>
          </p:nvPr>
        </p:nvSpPr>
        <p:spPr/>
        <p:txBody>
          <a:bodyPr/>
          <a:lstStyle/>
          <a:p>
            <a:fld id="{E429491A-B3AF-1544-8045-EEBAFF8B681B}" type="datetimeFigureOut">
              <a:rPr lang="en-US" smtClean="0"/>
              <a:t>11/4/2025</a:t>
            </a:fld>
            <a:endParaRPr lang="en-US"/>
          </a:p>
        </p:txBody>
      </p:sp>
      <p:sp>
        <p:nvSpPr>
          <p:cNvPr id="5" name="Footer Placeholder 4">
            <a:extLst>
              <a:ext uri="{FF2B5EF4-FFF2-40B4-BE49-F238E27FC236}">
                <a16:creationId xmlns:a16="http://schemas.microsoft.com/office/drawing/2014/main" id="{81D0A4BC-EB77-7348-893D-EE6F7F886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4768E0-F3CA-0A4A-B219-2CD23F542897}"/>
              </a:ext>
            </a:extLst>
          </p:cNvPr>
          <p:cNvSpPr>
            <a:spLocks noGrp="1"/>
          </p:cNvSpPr>
          <p:nvPr>
            <p:ph type="sldNum" sz="quarter" idx="12"/>
          </p:nvPr>
        </p:nvSpPr>
        <p:spPr/>
        <p:txBody>
          <a:bodyPr/>
          <a:lstStyle/>
          <a:p>
            <a:fld id="{1F0E8E9C-89D2-E340-BE3D-F63EB4BAA25C}" type="slidenum">
              <a:rPr lang="en-US" smtClean="0"/>
              <a:t>‹#›</a:t>
            </a:fld>
            <a:endParaRPr lang="en-US"/>
          </a:p>
        </p:txBody>
      </p:sp>
    </p:spTree>
    <p:extLst>
      <p:ext uri="{BB962C8B-B14F-4D97-AF65-F5344CB8AC3E}">
        <p14:creationId xmlns:p14="http://schemas.microsoft.com/office/powerpoint/2010/main" val="940731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DC7BD-4663-394F-B3B6-6C9AEC09162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988F8A8-EFA4-024E-8155-45C09905F39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CACF419-2587-734B-902D-C818D6F0687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11EED86-1B31-F343-A514-3DCB5061E2B1}"/>
              </a:ext>
            </a:extLst>
          </p:cNvPr>
          <p:cNvSpPr>
            <a:spLocks noGrp="1"/>
          </p:cNvSpPr>
          <p:nvPr>
            <p:ph type="dt" sz="half" idx="10"/>
          </p:nvPr>
        </p:nvSpPr>
        <p:spPr/>
        <p:txBody>
          <a:bodyPr/>
          <a:lstStyle/>
          <a:p>
            <a:fld id="{E429491A-B3AF-1544-8045-EEBAFF8B681B}" type="datetimeFigureOut">
              <a:rPr lang="en-US" smtClean="0"/>
              <a:t>11/4/2025</a:t>
            </a:fld>
            <a:endParaRPr lang="en-US"/>
          </a:p>
        </p:txBody>
      </p:sp>
      <p:sp>
        <p:nvSpPr>
          <p:cNvPr id="6" name="Footer Placeholder 5">
            <a:extLst>
              <a:ext uri="{FF2B5EF4-FFF2-40B4-BE49-F238E27FC236}">
                <a16:creationId xmlns:a16="http://schemas.microsoft.com/office/drawing/2014/main" id="{100A974F-C026-9742-8B83-43582DD56C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22EC7B-4DDF-114E-A703-D728EDB819CC}"/>
              </a:ext>
            </a:extLst>
          </p:cNvPr>
          <p:cNvSpPr>
            <a:spLocks noGrp="1"/>
          </p:cNvSpPr>
          <p:nvPr>
            <p:ph type="sldNum" sz="quarter" idx="12"/>
          </p:nvPr>
        </p:nvSpPr>
        <p:spPr/>
        <p:txBody>
          <a:bodyPr/>
          <a:lstStyle/>
          <a:p>
            <a:fld id="{1F0E8E9C-89D2-E340-BE3D-F63EB4BAA25C}" type="slidenum">
              <a:rPr lang="en-US" smtClean="0"/>
              <a:t>‹#›</a:t>
            </a:fld>
            <a:endParaRPr lang="en-US"/>
          </a:p>
        </p:txBody>
      </p:sp>
    </p:spTree>
    <p:extLst>
      <p:ext uri="{BB962C8B-B14F-4D97-AF65-F5344CB8AC3E}">
        <p14:creationId xmlns:p14="http://schemas.microsoft.com/office/powerpoint/2010/main" val="42724968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22915-1716-504F-B7E3-B4402CB8B69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A2BEFB7-DC6E-4042-861D-FB741FD9C2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B3F3777-84AB-E143-840B-44813284A24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EC4AB6C-7283-D944-A71E-DD6A65D532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4B0A6D5-9D6A-DA4B-B4C2-EE1BF44128F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59016D6-B5D2-E04E-BEBD-455CA8191227}"/>
              </a:ext>
            </a:extLst>
          </p:cNvPr>
          <p:cNvSpPr>
            <a:spLocks noGrp="1"/>
          </p:cNvSpPr>
          <p:nvPr>
            <p:ph type="dt" sz="half" idx="10"/>
          </p:nvPr>
        </p:nvSpPr>
        <p:spPr/>
        <p:txBody>
          <a:bodyPr/>
          <a:lstStyle/>
          <a:p>
            <a:fld id="{E429491A-B3AF-1544-8045-EEBAFF8B681B}" type="datetimeFigureOut">
              <a:rPr lang="en-US" smtClean="0"/>
              <a:t>11/4/2025</a:t>
            </a:fld>
            <a:endParaRPr lang="en-US"/>
          </a:p>
        </p:txBody>
      </p:sp>
      <p:sp>
        <p:nvSpPr>
          <p:cNvPr id="8" name="Footer Placeholder 7">
            <a:extLst>
              <a:ext uri="{FF2B5EF4-FFF2-40B4-BE49-F238E27FC236}">
                <a16:creationId xmlns:a16="http://schemas.microsoft.com/office/drawing/2014/main" id="{A74DCA8A-7A40-0C45-B336-0D897675A0B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D532858-198E-8C47-BC95-F5BEE82CC24A}"/>
              </a:ext>
            </a:extLst>
          </p:cNvPr>
          <p:cNvSpPr>
            <a:spLocks noGrp="1"/>
          </p:cNvSpPr>
          <p:nvPr>
            <p:ph type="sldNum" sz="quarter" idx="12"/>
          </p:nvPr>
        </p:nvSpPr>
        <p:spPr/>
        <p:txBody>
          <a:bodyPr/>
          <a:lstStyle/>
          <a:p>
            <a:fld id="{1F0E8E9C-89D2-E340-BE3D-F63EB4BAA25C}" type="slidenum">
              <a:rPr lang="en-US" smtClean="0"/>
              <a:t>‹#›</a:t>
            </a:fld>
            <a:endParaRPr lang="en-US"/>
          </a:p>
        </p:txBody>
      </p:sp>
    </p:spTree>
    <p:extLst>
      <p:ext uri="{BB962C8B-B14F-4D97-AF65-F5344CB8AC3E}">
        <p14:creationId xmlns:p14="http://schemas.microsoft.com/office/powerpoint/2010/main" val="739775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122D2-212C-C644-B841-8BB6602A658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CEA05EA-2B2A-1E48-8C02-2F2ECCB27F05}"/>
              </a:ext>
            </a:extLst>
          </p:cNvPr>
          <p:cNvSpPr>
            <a:spLocks noGrp="1"/>
          </p:cNvSpPr>
          <p:nvPr>
            <p:ph type="dt" sz="half" idx="10"/>
          </p:nvPr>
        </p:nvSpPr>
        <p:spPr/>
        <p:txBody>
          <a:bodyPr/>
          <a:lstStyle/>
          <a:p>
            <a:fld id="{E429491A-B3AF-1544-8045-EEBAFF8B681B}" type="datetimeFigureOut">
              <a:rPr lang="en-US" smtClean="0"/>
              <a:t>11/4/2025</a:t>
            </a:fld>
            <a:endParaRPr lang="en-US"/>
          </a:p>
        </p:txBody>
      </p:sp>
      <p:sp>
        <p:nvSpPr>
          <p:cNvPr id="4" name="Footer Placeholder 3">
            <a:extLst>
              <a:ext uri="{FF2B5EF4-FFF2-40B4-BE49-F238E27FC236}">
                <a16:creationId xmlns:a16="http://schemas.microsoft.com/office/drawing/2014/main" id="{EC161653-D171-D046-9D40-ADC476FF1AD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D16877-B103-4949-82B7-661B4A7A5A0D}"/>
              </a:ext>
            </a:extLst>
          </p:cNvPr>
          <p:cNvSpPr>
            <a:spLocks noGrp="1"/>
          </p:cNvSpPr>
          <p:nvPr>
            <p:ph type="sldNum" sz="quarter" idx="12"/>
          </p:nvPr>
        </p:nvSpPr>
        <p:spPr/>
        <p:txBody>
          <a:bodyPr/>
          <a:lstStyle/>
          <a:p>
            <a:fld id="{1F0E8E9C-89D2-E340-BE3D-F63EB4BAA25C}" type="slidenum">
              <a:rPr lang="en-US" smtClean="0"/>
              <a:t>‹#›</a:t>
            </a:fld>
            <a:endParaRPr lang="en-US"/>
          </a:p>
        </p:txBody>
      </p:sp>
    </p:spTree>
    <p:extLst>
      <p:ext uri="{BB962C8B-B14F-4D97-AF65-F5344CB8AC3E}">
        <p14:creationId xmlns:p14="http://schemas.microsoft.com/office/powerpoint/2010/main" val="2530051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863D6A-5FF3-E540-8F73-8F18AA86E37B}"/>
              </a:ext>
            </a:extLst>
          </p:cNvPr>
          <p:cNvSpPr>
            <a:spLocks noGrp="1"/>
          </p:cNvSpPr>
          <p:nvPr>
            <p:ph type="dt" sz="half" idx="10"/>
          </p:nvPr>
        </p:nvSpPr>
        <p:spPr/>
        <p:txBody>
          <a:bodyPr/>
          <a:lstStyle/>
          <a:p>
            <a:fld id="{E429491A-B3AF-1544-8045-EEBAFF8B681B}" type="datetimeFigureOut">
              <a:rPr lang="en-US" smtClean="0"/>
              <a:t>11/4/2025</a:t>
            </a:fld>
            <a:endParaRPr lang="en-US"/>
          </a:p>
        </p:txBody>
      </p:sp>
      <p:sp>
        <p:nvSpPr>
          <p:cNvPr id="3" name="Footer Placeholder 2">
            <a:extLst>
              <a:ext uri="{FF2B5EF4-FFF2-40B4-BE49-F238E27FC236}">
                <a16:creationId xmlns:a16="http://schemas.microsoft.com/office/drawing/2014/main" id="{F51B6D35-A72E-0741-951F-CDE02A9D7F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AF2B6A-DA37-294D-A7F0-BAE60A605F17}"/>
              </a:ext>
            </a:extLst>
          </p:cNvPr>
          <p:cNvSpPr>
            <a:spLocks noGrp="1"/>
          </p:cNvSpPr>
          <p:nvPr>
            <p:ph type="sldNum" sz="quarter" idx="12"/>
          </p:nvPr>
        </p:nvSpPr>
        <p:spPr/>
        <p:txBody>
          <a:bodyPr/>
          <a:lstStyle/>
          <a:p>
            <a:fld id="{1F0E8E9C-89D2-E340-BE3D-F63EB4BAA25C}" type="slidenum">
              <a:rPr lang="en-US" smtClean="0"/>
              <a:t>‹#›</a:t>
            </a:fld>
            <a:endParaRPr lang="en-US"/>
          </a:p>
        </p:txBody>
      </p:sp>
    </p:spTree>
    <p:extLst>
      <p:ext uri="{BB962C8B-B14F-4D97-AF65-F5344CB8AC3E}">
        <p14:creationId xmlns:p14="http://schemas.microsoft.com/office/powerpoint/2010/main" val="2726749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A35E8-529B-A84B-9B85-57F3D66A9AC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1601150-F70B-B24A-9D86-CFC5DCA581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8D24D3F-8232-A64C-B19F-6910BCDD9E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BE2F705-0592-E641-B529-2D32C6545A46}"/>
              </a:ext>
            </a:extLst>
          </p:cNvPr>
          <p:cNvSpPr>
            <a:spLocks noGrp="1"/>
          </p:cNvSpPr>
          <p:nvPr>
            <p:ph type="dt" sz="half" idx="10"/>
          </p:nvPr>
        </p:nvSpPr>
        <p:spPr/>
        <p:txBody>
          <a:bodyPr/>
          <a:lstStyle/>
          <a:p>
            <a:fld id="{E429491A-B3AF-1544-8045-EEBAFF8B681B}" type="datetimeFigureOut">
              <a:rPr lang="en-US" smtClean="0"/>
              <a:t>11/4/2025</a:t>
            </a:fld>
            <a:endParaRPr lang="en-US"/>
          </a:p>
        </p:txBody>
      </p:sp>
      <p:sp>
        <p:nvSpPr>
          <p:cNvPr id="6" name="Footer Placeholder 5">
            <a:extLst>
              <a:ext uri="{FF2B5EF4-FFF2-40B4-BE49-F238E27FC236}">
                <a16:creationId xmlns:a16="http://schemas.microsoft.com/office/drawing/2014/main" id="{57E5AA5F-3390-004A-84D0-9613366F9C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D45E24-B2C3-3A48-BCE6-53F82AA29E97}"/>
              </a:ext>
            </a:extLst>
          </p:cNvPr>
          <p:cNvSpPr>
            <a:spLocks noGrp="1"/>
          </p:cNvSpPr>
          <p:nvPr>
            <p:ph type="sldNum" sz="quarter" idx="12"/>
          </p:nvPr>
        </p:nvSpPr>
        <p:spPr/>
        <p:txBody>
          <a:bodyPr/>
          <a:lstStyle/>
          <a:p>
            <a:fld id="{1F0E8E9C-89D2-E340-BE3D-F63EB4BAA25C}" type="slidenum">
              <a:rPr lang="en-US" smtClean="0"/>
              <a:t>‹#›</a:t>
            </a:fld>
            <a:endParaRPr lang="en-US"/>
          </a:p>
        </p:txBody>
      </p:sp>
    </p:spTree>
    <p:extLst>
      <p:ext uri="{BB962C8B-B14F-4D97-AF65-F5344CB8AC3E}">
        <p14:creationId xmlns:p14="http://schemas.microsoft.com/office/powerpoint/2010/main" val="3730067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35EFB-B941-D449-B75A-40C96858931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4" name="Text Placeholder 3">
            <a:extLst>
              <a:ext uri="{FF2B5EF4-FFF2-40B4-BE49-F238E27FC236}">
                <a16:creationId xmlns:a16="http://schemas.microsoft.com/office/drawing/2014/main" id="{595A312B-72AE-9942-AA73-CA8A1C3130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3203276-3132-5045-809A-714E21E683D1}"/>
              </a:ext>
            </a:extLst>
          </p:cNvPr>
          <p:cNvSpPr>
            <a:spLocks noGrp="1"/>
          </p:cNvSpPr>
          <p:nvPr>
            <p:ph type="dt" sz="half" idx="10"/>
          </p:nvPr>
        </p:nvSpPr>
        <p:spPr/>
        <p:txBody>
          <a:bodyPr/>
          <a:lstStyle/>
          <a:p>
            <a:fld id="{E429491A-B3AF-1544-8045-EEBAFF8B681B}" type="datetimeFigureOut">
              <a:rPr lang="en-US" smtClean="0"/>
              <a:t>11/4/2025</a:t>
            </a:fld>
            <a:endParaRPr lang="en-US"/>
          </a:p>
        </p:txBody>
      </p:sp>
      <p:sp>
        <p:nvSpPr>
          <p:cNvPr id="6" name="Footer Placeholder 5">
            <a:extLst>
              <a:ext uri="{FF2B5EF4-FFF2-40B4-BE49-F238E27FC236}">
                <a16:creationId xmlns:a16="http://schemas.microsoft.com/office/drawing/2014/main" id="{9AB3400D-36DD-C840-BC7F-1BEBC60429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07ED33-60E8-3A48-9C8D-B17EF4E49D69}"/>
              </a:ext>
            </a:extLst>
          </p:cNvPr>
          <p:cNvSpPr>
            <a:spLocks noGrp="1"/>
          </p:cNvSpPr>
          <p:nvPr>
            <p:ph type="sldNum" sz="quarter" idx="12"/>
          </p:nvPr>
        </p:nvSpPr>
        <p:spPr/>
        <p:txBody>
          <a:bodyPr/>
          <a:lstStyle/>
          <a:p>
            <a:fld id="{1F0E8E9C-89D2-E340-BE3D-F63EB4BAA25C}" type="slidenum">
              <a:rPr lang="en-US" smtClean="0"/>
              <a:t>‹#›</a:t>
            </a:fld>
            <a:endParaRPr lang="en-US"/>
          </a:p>
        </p:txBody>
      </p:sp>
      <p:sp>
        <p:nvSpPr>
          <p:cNvPr id="3" name="Picture Placeholder 2">
            <a:extLst>
              <a:ext uri="{FF2B5EF4-FFF2-40B4-BE49-F238E27FC236}">
                <a16:creationId xmlns:a16="http://schemas.microsoft.com/office/drawing/2014/main" id="{FAEF7101-3FDB-4A4F-A96F-40FFC27D13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9412249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748FF-2B32-F240-96A5-0A04A7CAADD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4009DDD-604F-444C-9D39-2A645406753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8782C7C-D799-C347-B976-6A3FBD27CFEA}"/>
              </a:ext>
            </a:extLst>
          </p:cNvPr>
          <p:cNvSpPr>
            <a:spLocks noGrp="1"/>
          </p:cNvSpPr>
          <p:nvPr>
            <p:ph type="dt" sz="half" idx="10"/>
          </p:nvPr>
        </p:nvSpPr>
        <p:spPr/>
        <p:txBody>
          <a:bodyPr/>
          <a:lstStyle/>
          <a:p>
            <a:fld id="{E429491A-B3AF-1544-8045-EEBAFF8B681B}" type="datetimeFigureOut">
              <a:rPr lang="en-US" smtClean="0"/>
              <a:t>11/4/2025</a:t>
            </a:fld>
            <a:endParaRPr lang="en-US"/>
          </a:p>
        </p:txBody>
      </p:sp>
      <p:sp>
        <p:nvSpPr>
          <p:cNvPr id="5" name="Footer Placeholder 4">
            <a:extLst>
              <a:ext uri="{FF2B5EF4-FFF2-40B4-BE49-F238E27FC236}">
                <a16:creationId xmlns:a16="http://schemas.microsoft.com/office/drawing/2014/main" id="{9C59DFD6-8FBE-E64E-9186-ECCDC0B5E0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D9DEC4-1868-254B-AB99-BC175D265BE9}"/>
              </a:ext>
            </a:extLst>
          </p:cNvPr>
          <p:cNvSpPr>
            <a:spLocks noGrp="1"/>
          </p:cNvSpPr>
          <p:nvPr>
            <p:ph type="sldNum" sz="quarter" idx="12"/>
          </p:nvPr>
        </p:nvSpPr>
        <p:spPr/>
        <p:txBody>
          <a:bodyPr/>
          <a:lstStyle/>
          <a:p>
            <a:fld id="{1F0E8E9C-89D2-E340-BE3D-F63EB4BAA25C}" type="slidenum">
              <a:rPr lang="en-US" smtClean="0"/>
              <a:t>‹#›</a:t>
            </a:fld>
            <a:endParaRPr lang="en-US"/>
          </a:p>
        </p:txBody>
      </p:sp>
    </p:spTree>
    <p:extLst>
      <p:ext uri="{BB962C8B-B14F-4D97-AF65-F5344CB8AC3E}">
        <p14:creationId xmlns:p14="http://schemas.microsoft.com/office/powerpoint/2010/main" val="1271808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1D7AFC-D3D4-6E4C-B468-94559FD093A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D39D2B8-2EC6-4F42-AC1A-96F21E21DB44}"/>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9F849BF-E213-0E4F-A3D6-87FE45D9C3B0}"/>
              </a:ext>
            </a:extLst>
          </p:cNvPr>
          <p:cNvSpPr>
            <a:spLocks noGrp="1"/>
          </p:cNvSpPr>
          <p:nvPr>
            <p:ph type="dt" sz="half" idx="10"/>
          </p:nvPr>
        </p:nvSpPr>
        <p:spPr/>
        <p:txBody>
          <a:bodyPr/>
          <a:lstStyle/>
          <a:p>
            <a:fld id="{E429491A-B3AF-1544-8045-EEBAFF8B681B}" type="datetimeFigureOut">
              <a:rPr lang="en-US" smtClean="0"/>
              <a:t>11/4/2025</a:t>
            </a:fld>
            <a:endParaRPr lang="en-US"/>
          </a:p>
        </p:txBody>
      </p:sp>
      <p:sp>
        <p:nvSpPr>
          <p:cNvPr id="5" name="Footer Placeholder 4">
            <a:extLst>
              <a:ext uri="{FF2B5EF4-FFF2-40B4-BE49-F238E27FC236}">
                <a16:creationId xmlns:a16="http://schemas.microsoft.com/office/drawing/2014/main" id="{E2D0DEF2-0E2C-374F-B4EA-CE8ECA492B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534829-DF91-8043-A9EB-1910C67AC349}"/>
              </a:ext>
            </a:extLst>
          </p:cNvPr>
          <p:cNvSpPr>
            <a:spLocks noGrp="1"/>
          </p:cNvSpPr>
          <p:nvPr>
            <p:ph type="sldNum" sz="quarter" idx="12"/>
          </p:nvPr>
        </p:nvSpPr>
        <p:spPr/>
        <p:txBody>
          <a:bodyPr/>
          <a:lstStyle/>
          <a:p>
            <a:fld id="{1F0E8E9C-89D2-E340-BE3D-F63EB4BAA25C}" type="slidenum">
              <a:rPr lang="en-US" smtClean="0"/>
              <a:t>‹#›</a:t>
            </a:fld>
            <a:endParaRPr lang="en-US"/>
          </a:p>
        </p:txBody>
      </p:sp>
    </p:spTree>
    <p:extLst>
      <p:ext uri="{BB962C8B-B14F-4D97-AF65-F5344CB8AC3E}">
        <p14:creationId xmlns:p14="http://schemas.microsoft.com/office/powerpoint/2010/main" val="3303380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7000">
              <a:srgbClr val="DEF2E6"/>
            </a:gs>
            <a:gs pos="0">
              <a:srgbClr val="E0E4E7"/>
            </a:gs>
            <a:gs pos="100000">
              <a:srgbClr val="DCFFE5"/>
            </a:gs>
          </a:gsLst>
          <a:lin ang="135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FDE282-9916-8541-B803-3F0E601AE1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35F1BCC-C49C-1F4E-92F0-CA8AC1995E6D}"/>
              </a:ext>
            </a:extLst>
          </p:cNvPr>
          <p:cNvSpPr>
            <a:spLocks noGrp="1"/>
          </p:cNvSpPr>
          <p:nvPr>
            <p:ph type="body" idx="1"/>
          </p:nvPr>
        </p:nvSpPr>
        <p:spPr>
          <a:xfrm>
            <a:off x="838200" y="1825625"/>
            <a:ext cx="5343939"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C9FFAD4-CBA3-024B-BA7C-D88A2D9DD9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29491A-B3AF-1544-8045-EEBAFF8B681B}" type="datetimeFigureOut">
              <a:rPr lang="en-US" smtClean="0"/>
              <a:t>11/4/2025</a:t>
            </a:fld>
            <a:endParaRPr lang="en-US"/>
          </a:p>
        </p:txBody>
      </p:sp>
      <p:sp>
        <p:nvSpPr>
          <p:cNvPr id="5" name="Footer Placeholder 4">
            <a:extLst>
              <a:ext uri="{FF2B5EF4-FFF2-40B4-BE49-F238E27FC236}">
                <a16:creationId xmlns:a16="http://schemas.microsoft.com/office/drawing/2014/main" id="{97DD9BBA-31BE-2945-A01E-4E323DF8DD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EF47BFF-3A78-5344-995D-6EAD7CD3B2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0E8E9C-89D2-E340-BE3D-F63EB4BAA25C}" type="slidenum">
              <a:rPr lang="en-US" smtClean="0"/>
              <a:t>‹#›</a:t>
            </a:fld>
            <a:endParaRPr lang="en-US"/>
          </a:p>
        </p:txBody>
      </p:sp>
      <p:pic>
        <p:nvPicPr>
          <p:cNvPr id="8" name="Picture 7">
            <a:extLst>
              <a:ext uri="{FF2B5EF4-FFF2-40B4-BE49-F238E27FC236}">
                <a16:creationId xmlns:a16="http://schemas.microsoft.com/office/drawing/2014/main" id="{32B08299-1D2A-A32F-F292-51ECB6BED8F1}"/>
              </a:ext>
            </a:extLst>
          </p:cNvPr>
          <p:cNvPicPr>
            <a:picLocks noChangeAspect="1"/>
          </p:cNvPicPr>
          <p:nvPr userDrawn="1"/>
        </p:nvPicPr>
        <p:blipFill>
          <a:blip r:embed="rId13"/>
          <a:stretch>
            <a:fillRect/>
          </a:stretch>
        </p:blipFill>
        <p:spPr>
          <a:xfrm>
            <a:off x="0" y="-9939"/>
            <a:ext cx="12192000" cy="278220"/>
          </a:xfrm>
          <a:prstGeom prst="rect">
            <a:avLst/>
          </a:prstGeom>
        </p:spPr>
      </p:pic>
      <p:pic>
        <p:nvPicPr>
          <p:cNvPr id="9" name="Picture 8" descr="Logo&#10;&#10;Description automatically generated with low confidence">
            <a:extLst>
              <a:ext uri="{FF2B5EF4-FFF2-40B4-BE49-F238E27FC236}">
                <a16:creationId xmlns:a16="http://schemas.microsoft.com/office/drawing/2014/main" id="{3F76006E-E096-6C97-62A8-A38DED31E89D}"/>
              </a:ext>
            </a:extLst>
          </p:cNvPr>
          <p:cNvPicPr>
            <a:picLocks noChangeAspect="1"/>
          </p:cNvPicPr>
          <p:nvPr userDrawn="1"/>
        </p:nvPicPr>
        <p:blipFill>
          <a:blip r:embed="rId14"/>
          <a:stretch>
            <a:fillRect/>
          </a:stretch>
        </p:blipFill>
        <p:spPr>
          <a:xfrm>
            <a:off x="9915939" y="101601"/>
            <a:ext cx="2353733" cy="1207602"/>
          </a:xfrm>
          <a:prstGeom prst="rect">
            <a:avLst/>
          </a:prstGeom>
        </p:spPr>
      </p:pic>
    </p:spTree>
    <p:extLst>
      <p:ext uri="{BB962C8B-B14F-4D97-AF65-F5344CB8AC3E}">
        <p14:creationId xmlns:p14="http://schemas.microsoft.com/office/powerpoint/2010/main" val="2800967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g"/><Relationship Id="rId1" Type="http://schemas.openxmlformats.org/officeDocument/2006/relationships/slideLayout" Target="../slideLayouts/slideLayout6.xml"/><Relationship Id="rId4" Type="http://schemas.openxmlformats.org/officeDocument/2006/relationships/image" Target="../media/image22.jpg"/></Relationships>
</file>

<file path=ppt/slides/_rels/slide1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6E5AA21-81E4-025C-F2B4-0B4AA30FC81D}"/>
              </a:ext>
            </a:extLst>
          </p:cNvPr>
          <p:cNvSpPr>
            <a:spLocks noGrp="1"/>
          </p:cNvSpPr>
          <p:nvPr>
            <p:ph type="ctrTitle"/>
          </p:nvPr>
        </p:nvSpPr>
        <p:spPr>
          <a:xfrm>
            <a:off x="1524000" y="1791704"/>
            <a:ext cx="9144000" cy="3274592"/>
          </a:xfrm>
        </p:spPr>
        <p:txBody>
          <a:bodyPr anchor="ctr">
            <a:normAutofit/>
          </a:bodyPr>
          <a:lstStyle/>
          <a:p>
            <a:r>
              <a:rPr lang="en-US" sz="4500" b="1" dirty="0"/>
              <a:t>Tiny Tapeout Project </a:t>
            </a:r>
            <a:br>
              <a:rPr lang="en-US" sz="4500" b="1" dirty="0"/>
            </a:br>
            <a:br>
              <a:rPr lang="en-US" sz="4500" b="1" dirty="0"/>
            </a:br>
            <a:r>
              <a:rPr lang="en-US" sz="4500" b="1" dirty="0"/>
              <a:t>AXI Stream to UART Communication System</a:t>
            </a:r>
            <a:br>
              <a:rPr lang="en-IN" sz="4500" dirty="0"/>
            </a:br>
            <a:endParaRPr lang="en-IN" sz="4500" dirty="0"/>
          </a:p>
        </p:txBody>
      </p:sp>
      <p:sp>
        <p:nvSpPr>
          <p:cNvPr id="5" name="TextBox 4">
            <a:extLst>
              <a:ext uri="{FF2B5EF4-FFF2-40B4-BE49-F238E27FC236}">
                <a16:creationId xmlns:a16="http://schemas.microsoft.com/office/drawing/2014/main" id="{D5EB7254-E2E1-FDC9-F2A5-393ADD96B297}"/>
              </a:ext>
            </a:extLst>
          </p:cNvPr>
          <p:cNvSpPr txBox="1"/>
          <p:nvPr/>
        </p:nvSpPr>
        <p:spPr>
          <a:xfrm>
            <a:off x="9468465" y="5864577"/>
            <a:ext cx="2231922" cy="707886"/>
          </a:xfrm>
          <a:prstGeom prst="rect">
            <a:avLst/>
          </a:prstGeom>
          <a:noFill/>
        </p:spPr>
        <p:txBody>
          <a:bodyPr wrap="square" rtlCol="0">
            <a:spAutoFit/>
          </a:bodyPr>
          <a:lstStyle/>
          <a:p>
            <a:r>
              <a:rPr lang="en-IN" sz="2000" b="1" dirty="0"/>
              <a:t>Presented by,</a:t>
            </a:r>
          </a:p>
          <a:p>
            <a:r>
              <a:rPr lang="en-IN" sz="2000" b="1" dirty="0"/>
              <a:t>	TEAM 1</a:t>
            </a:r>
          </a:p>
        </p:txBody>
      </p:sp>
    </p:spTree>
    <p:extLst>
      <p:ext uri="{BB962C8B-B14F-4D97-AF65-F5344CB8AC3E}">
        <p14:creationId xmlns:p14="http://schemas.microsoft.com/office/powerpoint/2010/main" val="532446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57A90C4-5B54-A4A0-03C6-843732328BBC}"/>
              </a:ext>
            </a:extLst>
          </p:cNvPr>
          <p:cNvSpPr>
            <a:spLocks noGrp="1"/>
          </p:cNvSpPr>
          <p:nvPr>
            <p:ph type="title"/>
          </p:nvPr>
        </p:nvSpPr>
        <p:spPr>
          <a:xfrm>
            <a:off x="385905" y="296550"/>
            <a:ext cx="9942716" cy="1554480"/>
          </a:xfrm>
        </p:spPr>
        <p:txBody>
          <a:bodyPr anchor="ctr">
            <a:normAutofit/>
          </a:bodyPr>
          <a:lstStyle/>
          <a:p>
            <a:r>
              <a:rPr lang="en-US" sz="4800" dirty="0"/>
              <a:t>INTRODUCTION</a:t>
            </a:r>
            <a:endParaRPr lang="en-IN" sz="4800" dirty="0"/>
          </a:p>
        </p:txBody>
      </p:sp>
      <p:sp>
        <p:nvSpPr>
          <p:cNvPr id="4" name="Content Placeholder 2">
            <a:extLst>
              <a:ext uri="{FF2B5EF4-FFF2-40B4-BE49-F238E27FC236}">
                <a16:creationId xmlns:a16="http://schemas.microsoft.com/office/drawing/2014/main" id="{3500FB4E-AFC0-E0E5-6CF5-8D2E9B423C11}"/>
              </a:ext>
            </a:extLst>
          </p:cNvPr>
          <p:cNvSpPr txBox="1">
            <a:spLocks/>
          </p:cNvSpPr>
          <p:nvPr/>
        </p:nvSpPr>
        <p:spPr>
          <a:xfrm>
            <a:off x="563765" y="2009974"/>
            <a:ext cx="9941319" cy="3124658"/>
          </a:xfrm>
          <a:prstGeom prst="rect">
            <a:avLst/>
          </a:prstGeom>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dirty="0"/>
              <a:t>The AXI Stream to UART system transfers parallel data from an AXI-Stream interface to a UART serial channel.</a:t>
            </a:r>
            <a:endParaRPr lang="en-IN" sz="2400" dirty="0"/>
          </a:p>
          <a:p>
            <a:pPr algn="just"/>
            <a:r>
              <a:rPr lang="en-US" sz="2400" dirty="0"/>
              <a:t>Data send by the AXI-Stream master is pushed into a synchronous FIFO buffer. The FIFO output is then serialized and transmitted by the UART transmitter.</a:t>
            </a:r>
            <a:endParaRPr lang="en-IN" sz="2400" dirty="0"/>
          </a:p>
          <a:p>
            <a:pPr algn="just"/>
            <a:r>
              <a:rPr lang="en-US" sz="2400" dirty="0"/>
              <a:t>On the receiver side, the UART receiver deserializes the data, checks parity, and outputs parallel data.</a:t>
            </a:r>
            <a:endParaRPr lang="en-IN" sz="2400" dirty="0"/>
          </a:p>
          <a:p>
            <a:endParaRPr lang="en-IN" sz="2400" dirty="0"/>
          </a:p>
        </p:txBody>
      </p:sp>
    </p:spTree>
    <p:extLst>
      <p:ext uri="{BB962C8B-B14F-4D97-AF65-F5344CB8AC3E}">
        <p14:creationId xmlns:p14="http://schemas.microsoft.com/office/powerpoint/2010/main" val="25601917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1FE14-EC00-3A64-FC75-C94F01DEB07B}"/>
              </a:ext>
            </a:extLst>
          </p:cNvPr>
          <p:cNvSpPr txBox="1">
            <a:spLocks/>
          </p:cNvSpPr>
          <p:nvPr/>
        </p:nvSpPr>
        <p:spPr>
          <a:xfrm>
            <a:off x="288758" y="290563"/>
            <a:ext cx="5208396" cy="124947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700"/>
              <a:t>BLOCK DIAGRAM</a:t>
            </a:r>
            <a:endParaRPr lang="en-US" sz="3700" dirty="0"/>
          </a:p>
        </p:txBody>
      </p:sp>
      <p:pic>
        <p:nvPicPr>
          <p:cNvPr id="3" name="Content Placeholder 3">
            <a:extLst>
              <a:ext uri="{FF2B5EF4-FFF2-40B4-BE49-F238E27FC236}">
                <a16:creationId xmlns:a16="http://schemas.microsoft.com/office/drawing/2014/main" id="{B8829F60-BDE4-E2F4-F768-37863F4791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644320" y="1284304"/>
            <a:ext cx="10376606" cy="5421776"/>
          </a:xfrm>
          <a:prstGeom prst="rect">
            <a:avLst/>
          </a:prstGeom>
          <a:noFill/>
        </p:spPr>
      </p:pic>
    </p:spTree>
    <p:extLst>
      <p:ext uri="{BB962C8B-B14F-4D97-AF65-F5344CB8AC3E}">
        <p14:creationId xmlns:p14="http://schemas.microsoft.com/office/powerpoint/2010/main" val="9768390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EE67A-2A2F-D82B-A905-4E554A8C5862}"/>
              </a:ext>
            </a:extLst>
          </p:cNvPr>
          <p:cNvSpPr txBox="1">
            <a:spLocks/>
          </p:cNvSpPr>
          <p:nvPr/>
        </p:nvSpPr>
        <p:spPr>
          <a:xfrm>
            <a:off x="412667" y="194310"/>
            <a:ext cx="2469624" cy="11051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700"/>
              <a:t>SIGNALS</a:t>
            </a:r>
            <a:endParaRPr lang="en-US" sz="3700" dirty="0"/>
          </a:p>
        </p:txBody>
      </p:sp>
      <p:graphicFrame>
        <p:nvGraphicFramePr>
          <p:cNvPr id="3" name="Content Placeholder 3">
            <a:extLst>
              <a:ext uri="{FF2B5EF4-FFF2-40B4-BE49-F238E27FC236}">
                <a16:creationId xmlns:a16="http://schemas.microsoft.com/office/drawing/2014/main" id="{B6D3BA9A-C663-B321-4FF7-EAD21A404FC1}"/>
              </a:ext>
            </a:extLst>
          </p:cNvPr>
          <p:cNvGraphicFramePr>
            <a:graphicFrameLocks/>
          </p:cNvGraphicFramePr>
          <p:nvPr>
            <p:extLst>
              <p:ext uri="{D42A27DB-BD31-4B8C-83A1-F6EECF244321}">
                <p14:modId xmlns:p14="http://schemas.microsoft.com/office/powerpoint/2010/main" val="2054988327"/>
              </p:ext>
            </p:extLst>
          </p:nvPr>
        </p:nvGraphicFramePr>
        <p:xfrm>
          <a:off x="625448" y="1299411"/>
          <a:ext cx="9721711" cy="5245768"/>
        </p:xfrm>
        <a:graphic>
          <a:graphicData uri="http://schemas.openxmlformats.org/drawingml/2006/table">
            <a:tbl>
              <a:tblPr firstRow="1" firstCol="1" bandRow="1">
                <a:tableStyleId>{3B4B98B0-60AC-42C2-AFA5-B58CD77FA1E5}</a:tableStyleId>
              </a:tblPr>
              <a:tblGrid>
                <a:gridCol w="2044296">
                  <a:extLst>
                    <a:ext uri="{9D8B030D-6E8A-4147-A177-3AD203B41FA5}">
                      <a16:colId xmlns:a16="http://schemas.microsoft.com/office/drawing/2014/main" val="2090598707"/>
                    </a:ext>
                  </a:extLst>
                </a:gridCol>
                <a:gridCol w="1423551">
                  <a:extLst>
                    <a:ext uri="{9D8B030D-6E8A-4147-A177-3AD203B41FA5}">
                      <a16:colId xmlns:a16="http://schemas.microsoft.com/office/drawing/2014/main" val="3647174766"/>
                    </a:ext>
                  </a:extLst>
                </a:gridCol>
                <a:gridCol w="1044751">
                  <a:extLst>
                    <a:ext uri="{9D8B030D-6E8A-4147-A177-3AD203B41FA5}">
                      <a16:colId xmlns:a16="http://schemas.microsoft.com/office/drawing/2014/main" val="4155172670"/>
                    </a:ext>
                  </a:extLst>
                </a:gridCol>
                <a:gridCol w="5209113">
                  <a:extLst>
                    <a:ext uri="{9D8B030D-6E8A-4147-A177-3AD203B41FA5}">
                      <a16:colId xmlns:a16="http://schemas.microsoft.com/office/drawing/2014/main" val="3679364094"/>
                    </a:ext>
                  </a:extLst>
                </a:gridCol>
              </a:tblGrid>
              <a:tr h="391048">
                <a:tc>
                  <a:txBody>
                    <a:bodyPr/>
                    <a:lstStyle/>
                    <a:p>
                      <a:pPr algn="ctr">
                        <a:buNone/>
                      </a:pPr>
                      <a:r>
                        <a:rPr lang="en-US" sz="1700" kern="100">
                          <a:effectLst/>
                        </a:rPr>
                        <a:t>Pin Name</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Direction</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Width</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Function</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extLst>
                  <a:ext uri="{0D108BD9-81ED-4DB2-BD59-A6C34878D82A}">
                    <a16:rowId xmlns:a16="http://schemas.microsoft.com/office/drawing/2014/main" val="2886208718"/>
                  </a:ext>
                </a:extLst>
              </a:tr>
              <a:tr h="391048">
                <a:tc>
                  <a:txBody>
                    <a:bodyPr/>
                    <a:lstStyle/>
                    <a:p>
                      <a:pPr algn="ctr">
                        <a:buNone/>
                      </a:pPr>
                      <a:r>
                        <a:rPr lang="en-US" sz="1700" kern="100">
                          <a:effectLst/>
                        </a:rPr>
                        <a:t>clk</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Input</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1</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Clock Signal</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extLst>
                  <a:ext uri="{0D108BD9-81ED-4DB2-BD59-A6C34878D82A}">
                    <a16:rowId xmlns:a16="http://schemas.microsoft.com/office/drawing/2014/main" val="765362207"/>
                  </a:ext>
                </a:extLst>
              </a:tr>
              <a:tr h="391048">
                <a:tc>
                  <a:txBody>
                    <a:bodyPr/>
                    <a:lstStyle/>
                    <a:p>
                      <a:pPr algn="ctr">
                        <a:buNone/>
                      </a:pPr>
                      <a:r>
                        <a:rPr lang="en-US" sz="1700" kern="100">
                          <a:effectLst/>
                        </a:rPr>
                        <a:t>rst</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Input</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1</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Active High Synchronous Reset</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extLst>
                  <a:ext uri="{0D108BD9-81ED-4DB2-BD59-A6C34878D82A}">
                    <a16:rowId xmlns:a16="http://schemas.microsoft.com/office/drawing/2014/main" val="3987258372"/>
                  </a:ext>
                </a:extLst>
              </a:tr>
              <a:tr h="724870">
                <a:tc>
                  <a:txBody>
                    <a:bodyPr/>
                    <a:lstStyle/>
                    <a:p>
                      <a:pPr algn="ctr">
                        <a:buNone/>
                      </a:pPr>
                      <a:r>
                        <a:rPr lang="en-US" sz="1700" kern="100">
                          <a:effectLst/>
                        </a:rPr>
                        <a:t>axis_data</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Input</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8</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Parallel input data from AXI Stream master</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extLst>
                  <a:ext uri="{0D108BD9-81ED-4DB2-BD59-A6C34878D82A}">
                    <a16:rowId xmlns:a16="http://schemas.microsoft.com/office/drawing/2014/main" val="2353400079"/>
                  </a:ext>
                </a:extLst>
              </a:tr>
              <a:tr h="724870">
                <a:tc>
                  <a:txBody>
                    <a:bodyPr/>
                    <a:lstStyle/>
                    <a:p>
                      <a:pPr algn="ctr">
                        <a:buNone/>
                      </a:pPr>
                      <a:r>
                        <a:rPr lang="en-US" sz="1700" kern="100">
                          <a:effectLst/>
                        </a:rPr>
                        <a:t>axis_valid</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Input</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1</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AXI Stream valid signal – indicates valid data for axis_data</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extLst>
                  <a:ext uri="{0D108BD9-81ED-4DB2-BD59-A6C34878D82A}">
                    <a16:rowId xmlns:a16="http://schemas.microsoft.com/office/drawing/2014/main" val="3099022868"/>
                  </a:ext>
                </a:extLst>
              </a:tr>
              <a:tr h="391048">
                <a:tc>
                  <a:txBody>
                    <a:bodyPr/>
                    <a:lstStyle/>
                    <a:p>
                      <a:pPr algn="ctr">
                        <a:buNone/>
                      </a:pPr>
                      <a:r>
                        <a:rPr lang="en-US" sz="1700" kern="100">
                          <a:effectLst/>
                        </a:rPr>
                        <a:t>axis_last</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Input</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1</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Indicates last data in a frame</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extLst>
                  <a:ext uri="{0D108BD9-81ED-4DB2-BD59-A6C34878D82A}">
                    <a16:rowId xmlns:a16="http://schemas.microsoft.com/office/drawing/2014/main" val="3161333245"/>
                  </a:ext>
                </a:extLst>
              </a:tr>
              <a:tr h="724870">
                <a:tc>
                  <a:txBody>
                    <a:bodyPr/>
                    <a:lstStyle/>
                    <a:p>
                      <a:pPr algn="ctr">
                        <a:buNone/>
                      </a:pPr>
                      <a:r>
                        <a:rPr lang="en-US" sz="1700" kern="100">
                          <a:effectLst/>
                        </a:rPr>
                        <a:t>m_axis_ready</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Output</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1</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Indicates that system is ready to accept new AXI data i.e. the FIFO is not full.</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extLst>
                  <a:ext uri="{0D108BD9-81ED-4DB2-BD59-A6C34878D82A}">
                    <a16:rowId xmlns:a16="http://schemas.microsoft.com/office/drawing/2014/main" val="1956406622"/>
                  </a:ext>
                </a:extLst>
              </a:tr>
              <a:tr h="391048">
                <a:tc>
                  <a:txBody>
                    <a:bodyPr/>
                    <a:lstStyle/>
                    <a:p>
                      <a:pPr algn="ctr">
                        <a:buNone/>
                      </a:pPr>
                      <a:r>
                        <a:rPr lang="en-US" sz="1700" kern="100">
                          <a:effectLst/>
                        </a:rPr>
                        <a:t>uart_tx</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Output</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1</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UART serial transmit line</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extLst>
                  <a:ext uri="{0D108BD9-81ED-4DB2-BD59-A6C34878D82A}">
                    <a16:rowId xmlns:a16="http://schemas.microsoft.com/office/drawing/2014/main" val="3145816127"/>
                  </a:ext>
                </a:extLst>
              </a:tr>
              <a:tr h="724870">
                <a:tc>
                  <a:txBody>
                    <a:bodyPr/>
                    <a:lstStyle/>
                    <a:p>
                      <a:pPr algn="ctr">
                        <a:buNone/>
                      </a:pPr>
                      <a:r>
                        <a:rPr lang="en-US" sz="1700" kern="100">
                          <a:effectLst/>
                        </a:rPr>
                        <a:t>rx_valid</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Output</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1</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High for one clock cycle when new data is received successfully</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extLst>
                  <a:ext uri="{0D108BD9-81ED-4DB2-BD59-A6C34878D82A}">
                    <a16:rowId xmlns:a16="http://schemas.microsoft.com/office/drawing/2014/main" val="309005690"/>
                  </a:ext>
                </a:extLst>
              </a:tr>
              <a:tr h="391048">
                <a:tc>
                  <a:txBody>
                    <a:bodyPr/>
                    <a:lstStyle/>
                    <a:p>
                      <a:pPr algn="ctr">
                        <a:buNone/>
                      </a:pPr>
                      <a:r>
                        <a:rPr lang="en-US" sz="1700" kern="100">
                          <a:effectLst/>
                        </a:rPr>
                        <a:t>rx_data</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Output</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a:effectLst/>
                        </a:rPr>
                        <a:t>8</a:t>
                      </a:r>
                      <a:endParaRPr lang="en-IN" sz="1300" kern="10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tc>
                  <a:txBody>
                    <a:bodyPr/>
                    <a:lstStyle/>
                    <a:p>
                      <a:pPr algn="ctr">
                        <a:buNone/>
                      </a:pPr>
                      <a:r>
                        <a:rPr lang="en-US" sz="1700" kern="100" dirty="0">
                          <a:effectLst/>
                        </a:rPr>
                        <a:t>Parallel data after UART reception</a:t>
                      </a:r>
                      <a:endParaRPr lang="en-IN" sz="1300" kern="100" dirty="0">
                        <a:effectLst/>
                        <a:latin typeface="Aptos" panose="020B0004020202020204" pitchFamily="34" charset="0"/>
                        <a:ea typeface="Aptos" panose="020B0004020202020204" pitchFamily="34" charset="0"/>
                        <a:cs typeface="Times New Roman" panose="02020603050405020304" pitchFamily="18" charset="0"/>
                      </a:endParaRPr>
                    </a:p>
                  </a:txBody>
                  <a:tcPr marL="72007" marR="72007" marT="0" marB="0"/>
                </a:tc>
                <a:extLst>
                  <a:ext uri="{0D108BD9-81ED-4DB2-BD59-A6C34878D82A}">
                    <a16:rowId xmlns:a16="http://schemas.microsoft.com/office/drawing/2014/main" val="3293052888"/>
                  </a:ext>
                </a:extLst>
              </a:tr>
            </a:tbl>
          </a:graphicData>
        </a:graphic>
      </p:graphicFrame>
    </p:spTree>
    <p:extLst>
      <p:ext uri="{BB962C8B-B14F-4D97-AF65-F5344CB8AC3E}">
        <p14:creationId xmlns:p14="http://schemas.microsoft.com/office/powerpoint/2010/main" val="3389547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345E97-EFA4-C9CD-3038-C174A0705BF6}"/>
              </a:ext>
            </a:extLst>
          </p:cNvPr>
          <p:cNvSpPr txBox="1"/>
          <p:nvPr/>
        </p:nvSpPr>
        <p:spPr>
          <a:xfrm>
            <a:off x="433137" y="274521"/>
            <a:ext cx="4855470" cy="120135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kern="1200" dirty="0">
                <a:solidFill>
                  <a:schemeClr val="tx1"/>
                </a:solidFill>
                <a:latin typeface="+mj-lt"/>
                <a:ea typeface="+mj-ea"/>
                <a:cs typeface="+mj-cs"/>
              </a:rPr>
              <a:t>DESIGN PARAMETERS </a:t>
            </a:r>
          </a:p>
        </p:txBody>
      </p:sp>
      <p:graphicFrame>
        <p:nvGraphicFramePr>
          <p:cNvPr id="3" name="Content Placeholder 3">
            <a:extLst>
              <a:ext uri="{FF2B5EF4-FFF2-40B4-BE49-F238E27FC236}">
                <a16:creationId xmlns:a16="http://schemas.microsoft.com/office/drawing/2014/main" id="{28DB94EE-3D8C-BD5B-919F-A21C5EC6A01D}"/>
              </a:ext>
            </a:extLst>
          </p:cNvPr>
          <p:cNvGraphicFramePr>
            <a:graphicFrameLocks/>
          </p:cNvGraphicFramePr>
          <p:nvPr>
            <p:extLst>
              <p:ext uri="{D42A27DB-BD31-4B8C-83A1-F6EECF244321}">
                <p14:modId xmlns:p14="http://schemas.microsoft.com/office/powerpoint/2010/main" val="2840586273"/>
              </p:ext>
            </p:extLst>
          </p:nvPr>
        </p:nvGraphicFramePr>
        <p:xfrm>
          <a:off x="577322" y="1475874"/>
          <a:ext cx="7608305" cy="4717950"/>
        </p:xfrm>
        <a:graphic>
          <a:graphicData uri="http://schemas.openxmlformats.org/drawingml/2006/table">
            <a:tbl>
              <a:tblPr firstRow="1" firstCol="1" bandRow="1">
                <a:noFill/>
                <a:tableStyleId>{5C22544A-7EE6-4342-B048-85BDC9FD1C3A}</a:tableStyleId>
              </a:tblPr>
              <a:tblGrid>
                <a:gridCol w="3497113">
                  <a:extLst>
                    <a:ext uri="{9D8B030D-6E8A-4147-A177-3AD203B41FA5}">
                      <a16:colId xmlns:a16="http://schemas.microsoft.com/office/drawing/2014/main" val="4015198609"/>
                    </a:ext>
                  </a:extLst>
                </a:gridCol>
                <a:gridCol w="4111192">
                  <a:extLst>
                    <a:ext uri="{9D8B030D-6E8A-4147-A177-3AD203B41FA5}">
                      <a16:colId xmlns:a16="http://schemas.microsoft.com/office/drawing/2014/main" val="616127265"/>
                    </a:ext>
                  </a:extLst>
                </a:gridCol>
              </a:tblGrid>
              <a:tr h="1088758">
                <a:tc>
                  <a:txBody>
                    <a:bodyPr/>
                    <a:lstStyle/>
                    <a:p>
                      <a:pPr algn="ctr">
                        <a:buNone/>
                      </a:pPr>
                      <a:r>
                        <a:rPr lang="en-IN" sz="3300" b="1" kern="100">
                          <a:solidFill>
                            <a:schemeClr val="tx1">
                              <a:lumMod val="75000"/>
                              <a:lumOff val="25000"/>
                            </a:schemeClr>
                          </a:solidFill>
                          <a:effectLst/>
                        </a:rPr>
                        <a:t>Parameter</a:t>
                      </a:r>
                      <a:endParaRPr lang="en-IN" sz="3300" b="1" kern="100">
                        <a:solidFill>
                          <a:schemeClr val="tx1">
                            <a:lumMod val="75000"/>
                            <a:lumOff val="25000"/>
                          </a:schemeClr>
                        </a:solidFill>
                        <a:effectLst/>
                        <a:latin typeface="Aptos" panose="020B0004020202020204" pitchFamily="34" charset="0"/>
                        <a:ea typeface="Aptos" panose="020B0004020202020204" pitchFamily="34" charset="0"/>
                        <a:cs typeface="Times New Roman" panose="02020603050405020304" pitchFamily="18" charset="0"/>
                      </a:endParaRPr>
                    </a:p>
                  </a:txBody>
                  <a:tcPr marL="425296" marR="255177" marT="255177" marB="255177">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tc>
                  <a:txBody>
                    <a:bodyPr/>
                    <a:lstStyle/>
                    <a:p>
                      <a:pPr algn="ctr">
                        <a:buNone/>
                      </a:pPr>
                      <a:r>
                        <a:rPr lang="en-IN" sz="3300" kern="100" dirty="0">
                          <a:solidFill>
                            <a:schemeClr val="tx1">
                              <a:lumMod val="75000"/>
                              <a:lumOff val="25000"/>
                            </a:schemeClr>
                          </a:solidFill>
                          <a:effectLst/>
                        </a:rPr>
                        <a:t>Value</a:t>
                      </a:r>
                      <a:endParaRPr lang="en-IN" sz="3300" kern="100" dirty="0">
                        <a:solidFill>
                          <a:schemeClr val="tx1">
                            <a:lumMod val="75000"/>
                            <a:lumOff val="25000"/>
                          </a:schemeClr>
                        </a:solidFill>
                        <a:effectLst/>
                        <a:latin typeface="Aptos" panose="020B0004020202020204" pitchFamily="34" charset="0"/>
                        <a:ea typeface="Aptos" panose="020B0004020202020204" pitchFamily="34" charset="0"/>
                        <a:cs typeface="Times New Roman" panose="02020603050405020304" pitchFamily="18" charset="0"/>
                      </a:endParaRPr>
                    </a:p>
                  </a:txBody>
                  <a:tcPr marL="425296" marR="255177" marT="255177" marB="255177">
                    <a:lnL w="12700" cmpd="sng">
                      <a:noFill/>
                      <a:prstDash val="solid"/>
                    </a:lnL>
                    <a:lnR w="12700" cmpd="sng">
                      <a:noFill/>
                      <a:prstDash val="solid"/>
                    </a:lnR>
                    <a:lnT w="19050" cap="flat" cmpd="sng" algn="ctr">
                      <a:solidFill>
                        <a:srgbClr val="8F9A9D">
                          <a:alpha val="60000"/>
                        </a:srgbClr>
                      </a:solidFill>
                      <a:prstDash val="solid"/>
                    </a:lnT>
                    <a:lnB w="12700" cmpd="sng">
                      <a:noFill/>
                      <a:prstDash val="solid"/>
                    </a:lnB>
                    <a:noFill/>
                  </a:tcPr>
                </a:tc>
                <a:extLst>
                  <a:ext uri="{0D108BD9-81ED-4DB2-BD59-A6C34878D82A}">
                    <a16:rowId xmlns:a16="http://schemas.microsoft.com/office/drawing/2014/main" val="3367622095"/>
                  </a:ext>
                </a:extLst>
              </a:tr>
              <a:tr h="907298">
                <a:tc>
                  <a:txBody>
                    <a:bodyPr/>
                    <a:lstStyle/>
                    <a:p>
                      <a:pPr algn="ctr">
                        <a:buNone/>
                      </a:pPr>
                      <a:r>
                        <a:rPr lang="en-IN" sz="2600" b="1" kern="100">
                          <a:solidFill>
                            <a:schemeClr val="tx1">
                              <a:lumMod val="75000"/>
                              <a:lumOff val="25000"/>
                            </a:schemeClr>
                          </a:solidFill>
                          <a:effectLst/>
                        </a:rPr>
                        <a:t>Data Bits</a:t>
                      </a:r>
                      <a:endParaRPr lang="en-IN" sz="2600" b="1" kern="100">
                        <a:solidFill>
                          <a:schemeClr val="tx1">
                            <a:lumMod val="75000"/>
                            <a:lumOff val="25000"/>
                          </a:schemeClr>
                        </a:solidFill>
                        <a:effectLst/>
                        <a:latin typeface="Aptos" panose="020B0004020202020204" pitchFamily="34" charset="0"/>
                        <a:ea typeface="Aptos" panose="020B0004020202020204" pitchFamily="34" charset="0"/>
                        <a:cs typeface="Times New Roman" panose="02020603050405020304" pitchFamily="18" charset="0"/>
                      </a:endParaRPr>
                    </a:p>
                  </a:txBody>
                  <a:tcPr marL="425296" marR="221154" marT="221154" marB="221154">
                    <a:lnL w="12700" cmpd="sng">
                      <a:noFill/>
                      <a:prstDash val="solid"/>
                    </a:lnL>
                    <a:lnR w="19050" cap="flat" cmpd="sng" algn="ctr">
                      <a:solidFill>
                        <a:srgbClr val="FFFFFF"/>
                      </a:solidFill>
                      <a:prstDash val="solid"/>
                    </a:lnR>
                    <a:lnT w="12700" cmpd="sng">
                      <a:noFill/>
                      <a:prstDash val="solid"/>
                    </a:lnT>
                    <a:lnB w="12700" cmpd="sng">
                      <a:noFill/>
                      <a:prstDash val="solid"/>
                    </a:lnB>
                    <a:solidFill>
                      <a:srgbClr val="B4BCBE">
                        <a:alpha val="20000"/>
                      </a:srgbClr>
                    </a:solidFill>
                  </a:tcPr>
                </a:tc>
                <a:tc>
                  <a:txBody>
                    <a:bodyPr/>
                    <a:lstStyle/>
                    <a:p>
                      <a:pPr algn="ctr">
                        <a:buNone/>
                      </a:pPr>
                      <a:r>
                        <a:rPr lang="en-IN" sz="2600" kern="100">
                          <a:solidFill>
                            <a:schemeClr val="tx1">
                              <a:lumMod val="75000"/>
                              <a:lumOff val="25000"/>
                            </a:schemeClr>
                          </a:solidFill>
                          <a:effectLst/>
                        </a:rPr>
                        <a:t>8 bits per UART frame</a:t>
                      </a:r>
                      <a:endParaRPr lang="en-IN" sz="2600" kern="100">
                        <a:solidFill>
                          <a:schemeClr val="tx1">
                            <a:lumMod val="75000"/>
                            <a:lumOff val="25000"/>
                          </a:schemeClr>
                        </a:solidFill>
                        <a:effectLst/>
                        <a:latin typeface="Aptos" panose="020B0004020202020204" pitchFamily="34" charset="0"/>
                        <a:ea typeface="Aptos" panose="020B0004020202020204" pitchFamily="34" charset="0"/>
                        <a:cs typeface="Times New Roman" panose="02020603050405020304" pitchFamily="18" charset="0"/>
                      </a:endParaRPr>
                    </a:p>
                  </a:txBody>
                  <a:tcPr marL="425296" marR="221154" marT="221154" marB="221154">
                    <a:lnL w="19050" cap="flat" cmpd="sng" algn="ctr">
                      <a:solidFill>
                        <a:srgbClr val="FFFFFF"/>
                      </a:solidFill>
                      <a:prstDash val="solid"/>
                    </a:lnL>
                    <a:lnR w="12700" cmpd="sng">
                      <a:noFill/>
                      <a:prstDash val="solid"/>
                    </a:lnR>
                    <a:lnT w="12700" cmpd="sng">
                      <a:no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880095429"/>
                  </a:ext>
                </a:extLst>
              </a:tr>
              <a:tr h="907298">
                <a:tc>
                  <a:txBody>
                    <a:bodyPr/>
                    <a:lstStyle/>
                    <a:p>
                      <a:pPr algn="ctr">
                        <a:buNone/>
                      </a:pPr>
                      <a:r>
                        <a:rPr lang="en-IN" sz="2600" b="1" kern="100">
                          <a:solidFill>
                            <a:schemeClr val="tx1">
                              <a:lumMod val="75000"/>
                              <a:lumOff val="25000"/>
                            </a:schemeClr>
                          </a:solidFill>
                          <a:effectLst/>
                        </a:rPr>
                        <a:t>Baud Rate</a:t>
                      </a:r>
                      <a:endParaRPr lang="en-IN" sz="2600" b="1" kern="100">
                        <a:solidFill>
                          <a:schemeClr val="tx1">
                            <a:lumMod val="75000"/>
                            <a:lumOff val="25000"/>
                          </a:schemeClr>
                        </a:solidFill>
                        <a:effectLst/>
                        <a:latin typeface="Aptos" panose="020B0004020202020204" pitchFamily="34" charset="0"/>
                        <a:ea typeface="Aptos" panose="020B0004020202020204" pitchFamily="34" charset="0"/>
                        <a:cs typeface="Times New Roman" panose="02020603050405020304" pitchFamily="18" charset="0"/>
                      </a:endParaRPr>
                    </a:p>
                  </a:txBody>
                  <a:tcPr marL="425296" marR="221154" marT="221154" marB="221154">
                    <a:lnL w="12700" cmpd="sng">
                      <a:noFill/>
                      <a:prstDash val="solid"/>
                    </a:lnL>
                    <a:lnR w="19050" cap="flat" cmpd="sng" algn="ctr">
                      <a:solidFill>
                        <a:srgbClr val="FFFFFF"/>
                      </a:solidFill>
                      <a:prstDash val="solid"/>
                    </a:lnR>
                    <a:lnT w="12700" cmpd="sng">
                      <a:noFill/>
                      <a:prstDash val="solid"/>
                    </a:lnT>
                    <a:lnB w="12700" cmpd="sng">
                      <a:noFill/>
                      <a:prstDash val="solid"/>
                    </a:lnB>
                    <a:solidFill>
                      <a:srgbClr val="B4BCBE">
                        <a:alpha val="20000"/>
                      </a:srgbClr>
                    </a:solidFill>
                  </a:tcPr>
                </a:tc>
                <a:tc>
                  <a:txBody>
                    <a:bodyPr/>
                    <a:lstStyle/>
                    <a:p>
                      <a:pPr algn="ctr">
                        <a:buNone/>
                      </a:pPr>
                      <a:r>
                        <a:rPr lang="en-IN" sz="2600" kern="100">
                          <a:solidFill>
                            <a:schemeClr val="tx1">
                              <a:lumMod val="75000"/>
                              <a:lumOff val="25000"/>
                            </a:schemeClr>
                          </a:solidFill>
                          <a:effectLst/>
                        </a:rPr>
                        <a:t>115200</a:t>
                      </a:r>
                      <a:endParaRPr lang="en-IN" sz="2600" kern="100">
                        <a:solidFill>
                          <a:schemeClr val="tx1">
                            <a:lumMod val="75000"/>
                            <a:lumOff val="25000"/>
                          </a:schemeClr>
                        </a:solidFill>
                        <a:effectLst/>
                        <a:latin typeface="Aptos" panose="020B0004020202020204" pitchFamily="34" charset="0"/>
                        <a:ea typeface="Aptos" panose="020B0004020202020204" pitchFamily="34" charset="0"/>
                        <a:cs typeface="Times New Roman" panose="02020603050405020304" pitchFamily="18" charset="0"/>
                      </a:endParaRPr>
                    </a:p>
                  </a:txBody>
                  <a:tcPr marL="425296" marR="221154" marT="221154" marB="221154">
                    <a:lnL w="19050" cap="flat" cmpd="sng" algn="ctr">
                      <a:solidFill>
                        <a:srgbClr val="FFFFFF"/>
                      </a:solid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1531571970"/>
                  </a:ext>
                </a:extLst>
              </a:tr>
              <a:tr h="907298">
                <a:tc>
                  <a:txBody>
                    <a:bodyPr/>
                    <a:lstStyle/>
                    <a:p>
                      <a:pPr algn="ctr">
                        <a:buNone/>
                      </a:pPr>
                      <a:r>
                        <a:rPr lang="en-IN" sz="2600" b="1" kern="100">
                          <a:solidFill>
                            <a:schemeClr val="tx1">
                              <a:lumMod val="75000"/>
                              <a:lumOff val="25000"/>
                            </a:schemeClr>
                          </a:solidFill>
                          <a:effectLst/>
                        </a:rPr>
                        <a:t>Clock Frequency</a:t>
                      </a:r>
                      <a:endParaRPr lang="en-IN" sz="2600" b="1" kern="100">
                        <a:solidFill>
                          <a:schemeClr val="tx1">
                            <a:lumMod val="75000"/>
                            <a:lumOff val="25000"/>
                          </a:schemeClr>
                        </a:solidFill>
                        <a:effectLst/>
                        <a:latin typeface="Aptos" panose="020B0004020202020204" pitchFamily="34" charset="0"/>
                        <a:ea typeface="Aptos" panose="020B0004020202020204" pitchFamily="34" charset="0"/>
                        <a:cs typeface="Times New Roman" panose="02020603050405020304" pitchFamily="18" charset="0"/>
                      </a:endParaRPr>
                    </a:p>
                  </a:txBody>
                  <a:tcPr marL="425296" marR="221154" marT="221154" marB="221154">
                    <a:lnL w="12700" cmpd="sng">
                      <a:noFill/>
                      <a:prstDash val="solid"/>
                    </a:lnL>
                    <a:lnR w="19050" cap="flat" cmpd="sng" algn="ctr">
                      <a:solidFill>
                        <a:srgbClr val="FFFFFF"/>
                      </a:solidFill>
                      <a:prstDash val="solid"/>
                    </a:lnR>
                    <a:lnT w="12700" cmpd="sng">
                      <a:noFill/>
                      <a:prstDash val="solid"/>
                    </a:lnT>
                    <a:lnB w="12700" cmpd="sng">
                      <a:noFill/>
                      <a:prstDash val="solid"/>
                    </a:lnB>
                    <a:solidFill>
                      <a:srgbClr val="B4BCBE">
                        <a:alpha val="20000"/>
                      </a:srgbClr>
                    </a:solidFill>
                  </a:tcPr>
                </a:tc>
                <a:tc>
                  <a:txBody>
                    <a:bodyPr/>
                    <a:lstStyle/>
                    <a:p>
                      <a:pPr algn="ctr">
                        <a:buNone/>
                      </a:pPr>
                      <a:r>
                        <a:rPr lang="en-IN" sz="2600" kern="100">
                          <a:solidFill>
                            <a:schemeClr val="tx1">
                              <a:lumMod val="75000"/>
                              <a:lumOff val="25000"/>
                            </a:schemeClr>
                          </a:solidFill>
                          <a:effectLst/>
                        </a:rPr>
                        <a:t>50 </a:t>
                      </a:r>
                      <a:r>
                        <a:rPr lang="en-IN" sz="2600" kern="100" err="1">
                          <a:solidFill>
                            <a:schemeClr val="tx1">
                              <a:lumMod val="75000"/>
                              <a:lumOff val="25000"/>
                            </a:schemeClr>
                          </a:solidFill>
                          <a:effectLst/>
                        </a:rPr>
                        <a:t>Mhz</a:t>
                      </a:r>
                      <a:endParaRPr lang="en-IN" sz="2600" kern="100">
                        <a:solidFill>
                          <a:schemeClr val="tx1">
                            <a:lumMod val="75000"/>
                            <a:lumOff val="25000"/>
                          </a:schemeClr>
                        </a:solidFill>
                        <a:effectLst/>
                        <a:latin typeface="Aptos" panose="020B0004020202020204" pitchFamily="34" charset="0"/>
                        <a:ea typeface="Aptos" panose="020B0004020202020204" pitchFamily="34" charset="0"/>
                        <a:cs typeface="Times New Roman" panose="02020603050405020304" pitchFamily="18" charset="0"/>
                      </a:endParaRPr>
                    </a:p>
                  </a:txBody>
                  <a:tcPr marL="425296" marR="221154" marT="221154" marB="221154">
                    <a:lnL w="19050" cap="flat" cmpd="sng" algn="ctr">
                      <a:solidFill>
                        <a:srgbClr val="FFFFFF"/>
                      </a:solid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3315808587"/>
                  </a:ext>
                </a:extLst>
              </a:tr>
              <a:tr h="907298">
                <a:tc>
                  <a:txBody>
                    <a:bodyPr/>
                    <a:lstStyle/>
                    <a:p>
                      <a:pPr algn="ctr">
                        <a:buNone/>
                      </a:pPr>
                      <a:r>
                        <a:rPr lang="en-IN" sz="2600" b="1" kern="100">
                          <a:solidFill>
                            <a:schemeClr val="tx1">
                              <a:lumMod val="75000"/>
                              <a:lumOff val="25000"/>
                            </a:schemeClr>
                          </a:solidFill>
                          <a:effectLst/>
                        </a:rPr>
                        <a:t>FIFO Depth</a:t>
                      </a:r>
                      <a:endParaRPr lang="en-IN" sz="2600" b="1" kern="100">
                        <a:solidFill>
                          <a:schemeClr val="tx1">
                            <a:lumMod val="75000"/>
                            <a:lumOff val="25000"/>
                          </a:schemeClr>
                        </a:solidFill>
                        <a:effectLst/>
                        <a:latin typeface="Aptos" panose="020B0004020202020204" pitchFamily="34" charset="0"/>
                        <a:ea typeface="Aptos" panose="020B0004020202020204" pitchFamily="34" charset="0"/>
                        <a:cs typeface="Times New Roman" panose="02020603050405020304" pitchFamily="18" charset="0"/>
                      </a:endParaRPr>
                    </a:p>
                  </a:txBody>
                  <a:tcPr marL="425296" marR="221154" marT="221154" marB="221154">
                    <a:lnL w="12700" cmpd="sng">
                      <a:noFill/>
                      <a:prstDash val="solid"/>
                    </a:lnL>
                    <a:lnR w="19050" cap="flat" cmpd="sng" algn="ctr">
                      <a:solidFill>
                        <a:srgbClr val="FFFFFF"/>
                      </a:solidFill>
                      <a:prstDash val="solid"/>
                    </a:lnR>
                    <a:lnT w="12700" cmpd="sng">
                      <a:noFill/>
                      <a:prstDash val="solid"/>
                    </a:lnT>
                    <a:lnB w="12700" cmpd="sng">
                      <a:noFill/>
                      <a:prstDash val="solid"/>
                    </a:lnB>
                    <a:solidFill>
                      <a:srgbClr val="B4BCBE">
                        <a:alpha val="20000"/>
                      </a:srgbClr>
                    </a:solidFill>
                  </a:tcPr>
                </a:tc>
                <a:tc>
                  <a:txBody>
                    <a:bodyPr/>
                    <a:lstStyle/>
                    <a:p>
                      <a:pPr algn="ctr">
                        <a:buNone/>
                      </a:pPr>
                      <a:r>
                        <a:rPr lang="en-IN" sz="2600" kern="100" dirty="0">
                          <a:solidFill>
                            <a:schemeClr val="tx1">
                              <a:lumMod val="75000"/>
                              <a:lumOff val="25000"/>
                            </a:schemeClr>
                          </a:solidFill>
                          <a:effectLst/>
                        </a:rPr>
                        <a:t>8 bytes</a:t>
                      </a:r>
                      <a:endParaRPr lang="en-IN" sz="2600" kern="100" dirty="0">
                        <a:solidFill>
                          <a:schemeClr val="tx1">
                            <a:lumMod val="75000"/>
                            <a:lumOff val="25000"/>
                          </a:schemeClr>
                        </a:solidFill>
                        <a:effectLst/>
                        <a:latin typeface="Aptos" panose="020B0004020202020204" pitchFamily="34" charset="0"/>
                        <a:ea typeface="Aptos" panose="020B0004020202020204" pitchFamily="34" charset="0"/>
                        <a:cs typeface="Times New Roman" panose="02020603050405020304" pitchFamily="18" charset="0"/>
                      </a:endParaRPr>
                    </a:p>
                  </a:txBody>
                  <a:tcPr marL="425296" marR="221154" marT="221154" marB="221154">
                    <a:lnL w="19050" cap="flat" cmpd="sng" algn="ctr">
                      <a:solidFill>
                        <a:srgbClr val="FFFFFF"/>
                      </a:solidFill>
                      <a:prstDash val="solid"/>
                    </a:lnL>
                    <a:lnR w="12700" cmpd="sng">
                      <a:noFill/>
                      <a:prstDash val="solid"/>
                    </a:lnR>
                    <a:lnT w="19050" cap="flat" cmpd="sng" algn="ctr">
                      <a:solidFill>
                        <a:srgbClr val="FFFFFF"/>
                      </a:solidFill>
                      <a:prstDash val="solid"/>
                    </a:lnT>
                    <a:lnB w="19050" cap="flat" cmpd="sng" algn="ctr">
                      <a:solidFill>
                        <a:srgbClr val="FFFFFF"/>
                      </a:solidFill>
                      <a:prstDash val="solid"/>
                    </a:lnB>
                    <a:solidFill>
                      <a:srgbClr val="B4BCBE">
                        <a:alpha val="34902"/>
                      </a:srgbClr>
                    </a:solidFill>
                  </a:tcPr>
                </a:tc>
                <a:extLst>
                  <a:ext uri="{0D108BD9-81ED-4DB2-BD59-A6C34878D82A}">
                    <a16:rowId xmlns:a16="http://schemas.microsoft.com/office/drawing/2014/main" val="2425844576"/>
                  </a:ext>
                </a:extLst>
              </a:tr>
            </a:tbl>
          </a:graphicData>
        </a:graphic>
      </p:graphicFrame>
    </p:spTree>
    <p:extLst>
      <p:ext uri="{BB962C8B-B14F-4D97-AF65-F5344CB8AC3E}">
        <p14:creationId xmlns:p14="http://schemas.microsoft.com/office/powerpoint/2010/main" val="383629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FB1354-6EE5-2DDD-D2FD-D83408AF94ED}"/>
              </a:ext>
            </a:extLst>
          </p:cNvPr>
          <p:cNvSpPr txBox="1"/>
          <p:nvPr/>
        </p:nvSpPr>
        <p:spPr>
          <a:xfrm>
            <a:off x="433136" y="274521"/>
            <a:ext cx="5662863" cy="120135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kern="1200" dirty="0">
                <a:solidFill>
                  <a:schemeClr val="tx1"/>
                </a:solidFill>
                <a:latin typeface="+mj-lt"/>
                <a:ea typeface="+mj-ea"/>
                <a:cs typeface="+mj-cs"/>
              </a:rPr>
              <a:t>TESTBENCH ARCHITECTURE</a:t>
            </a:r>
          </a:p>
        </p:txBody>
      </p:sp>
      <p:pic>
        <p:nvPicPr>
          <p:cNvPr id="5" name="Picture 4">
            <a:extLst>
              <a:ext uri="{FF2B5EF4-FFF2-40B4-BE49-F238E27FC236}">
                <a16:creationId xmlns:a16="http://schemas.microsoft.com/office/drawing/2014/main" id="{D0120722-7992-1D1D-C61C-5202BCC897D8}"/>
              </a:ext>
            </a:extLst>
          </p:cNvPr>
          <p:cNvPicPr>
            <a:picLocks noChangeAspect="1"/>
          </p:cNvPicPr>
          <p:nvPr/>
        </p:nvPicPr>
        <p:blipFill>
          <a:blip r:embed="rId2"/>
          <a:stretch>
            <a:fillRect/>
          </a:stretch>
        </p:blipFill>
        <p:spPr>
          <a:xfrm>
            <a:off x="2098421" y="1396702"/>
            <a:ext cx="7592485" cy="5306165"/>
          </a:xfrm>
          <a:prstGeom prst="rect">
            <a:avLst/>
          </a:prstGeom>
        </p:spPr>
      </p:pic>
    </p:spTree>
    <p:extLst>
      <p:ext uri="{BB962C8B-B14F-4D97-AF65-F5344CB8AC3E}">
        <p14:creationId xmlns:p14="http://schemas.microsoft.com/office/powerpoint/2010/main" val="965484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E9EB45C-206C-B082-F292-8FA7AE9B8931}"/>
              </a:ext>
            </a:extLst>
          </p:cNvPr>
          <p:cNvSpPr txBox="1"/>
          <p:nvPr/>
        </p:nvSpPr>
        <p:spPr>
          <a:xfrm>
            <a:off x="433137" y="274521"/>
            <a:ext cx="4855470" cy="120135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700" kern="1200" dirty="0">
                <a:solidFill>
                  <a:schemeClr val="tx1"/>
                </a:solidFill>
                <a:latin typeface="+mj-lt"/>
                <a:ea typeface="+mj-ea"/>
                <a:cs typeface="+mj-cs"/>
              </a:rPr>
              <a:t>ERRORS IN DUT</a:t>
            </a:r>
          </a:p>
        </p:txBody>
      </p:sp>
      <p:sp>
        <p:nvSpPr>
          <p:cNvPr id="2" name="TextBox 1">
            <a:extLst>
              <a:ext uri="{FF2B5EF4-FFF2-40B4-BE49-F238E27FC236}">
                <a16:creationId xmlns:a16="http://schemas.microsoft.com/office/drawing/2014/main" id="{1470A912-2898-67B4-6BF8-AC5D625D1F3C}"/>
              </a:ext>
            </a:extLst>
          </p:cNvPr>
          <p:cNvSpPr txBox="1"/>
          <p:nvPr/>
        </p:nvSpPr>
        <p:spPr>
          <a:xfrm>
            <a:off x="192946" y="1475874"/>
            <a:ext cx="10754687" cy="1754326"/>
          </a:xfrm>
          <a:prstGeom prst="rect">
            <a:avLst/>
          </a:prstGeom>
          <a:noFill/>
        </p:spPr>
        <p:txBody>
          <a:bodyPr wrap="square" rtlCol="0">
            <a:spAutoFit/>
          </a:bodyPr>
          <a:lstStyle/>
          <a:p>
            <a:pPr marL="742950" lvl="1" indent="-285750">
              <a:buFont typeface="Arial" panose="020B0604020202020204" pitchFamily="34" charset="0"/>
              <a:buChar char="•"/>
            </a:pPr>
            <a:r>
              <a:rPr lang="en-IN" b="1" dirty="0"/>
              <a:t>Reset condition – BUG1</a:t>
            </a:r>
            <a:endParaRPr lang="en-IN" dirty="0"/>
          </a:p>
          <a:p>
            <a:pPr marL="1200150" lvl="2" indent="-285750">
              <a:buFont typeface="Arial" panose="020B0604020202020204" pitchFamily="34" charset="0"/>
              <a:buChar char="•"/>
            </a:pPr>
            <a:r>
              <a:rPr lang="en-IN" dirty="0"/>
              <a:t>While asserting the reset high after few clock cycles, the last 2 bytes of data were only coming and all other data were lost.</a:t>
            </a:r>
          </a:p>
          <a:p>
            <a:pPr marL="1200150" lvl="2" indent="-285750">
              <a:buFont typeface="Arial" panose="020B0604020202020204" pitchFamily="34" charset="0"/>
              <a:buChar char="•"/>
            </a:pPr>
            <a:r>
              <a:rPr lang="en-IN" dirty="0"/>
              <a:t>When reset given in the initial clock cycles the DUT was working fine but giving in between caused unexpected behaviour.</a:t>
            </a:r>
          </a:p>
          <a:p>
            <a:endParaRPr lang="en-IN" dirty="0"/>
          </a:p>
        </p:txBody>
      </p:sp>
      <p:pic>
        <p:nvPicPr>
          <p:cNvPr id="1026" name="Picture 2">
            <a:extLst>
              <a:ext uri="{FF2B5EF4-FFF2-40B4-BE49-F238E27FC236}">
                <a16:creationId xmlns:a16="http://schemas.microsoft.com/office/drawing/2014/main" id="{7F7730B0-0F31-5710-D9B2-B779568CB5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4096" y="2950129"/>
            <a:ext cx="9794146" cy="1981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9E4FC18-E28F-1705-7171-E05C45E1FF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096" y="4994373"/>
            <a:ext cx="9794146" cy="16544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0564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5E36E08-DE47-D07C-D96C-DCF92723E668}"/>
              </a:ext>
            </a:extLst>
          </p:cNvPr>
          <p:cNvSpPr txBox="1"/>
          <p:nvPr/>
        </p:nvSpPr>
        <p:spPr>
          <a:xfrm>
            <a:off x="-159392" y="629174"/>
            <a:ext cx="9362114" cy="646331"/>
          </a:xfrm>
          <a:prstGeom prst="rect">
            <a:avLst/>
          </a:prstGeom>
          <a:noFill/>
        </p:spPr>
        <p:txBody>
          <a:bodyPr wrap="square" rtlCol="0">
            <a:spAutoFit/>
          </a:bodyPr>
          <a:lstStyle/>
          <a:p>
            <a:pPr marL="742950" lvl="1" indent="-285750">
              <a:buFont typeface="Arial" panose="020B0604020202020204" pitchFamily="34" charset="0"/>
              <a:buChar char="•"/>
            </a:pPr>
            <a:r>
              <a:rPr lang="en-IN" b="1" dirty="0"/>
              <a:t>Sending Stream of Data – BUG2</a:t>
            </a:r>
            <a:endParaRPr lang="en-IN" dirty="0"/>
          </a:p>
          <a:p>
            <a:pPr marL="1200150" lvl="2" indent="-285750">
              <a:buFont typeface="Arial" panose="020B0604020202020204" pitchFamily="34" charset="0"/>
              <a:buChar char="•"/>
            </a:pPr>
            <a:r>
              <a:rPr lang="en-IN" dirty="0"/>
              <a:t>While sending the stream of data the last byte of data was always erased.</a:t>
            </a:r>
          </a:p>
        </p:txBody>
      </p:sp>
      <p:pic>
        <p:nvPicPr>
          <p:cNvPr id="5" name="Picture 4" descr="A black background with many small squares&#10;&#10;AI-generated content may be incorrect.">
            <a:extLst>
              <a:ext uri="{FF2B5EF4-FFF2-40B4-BE49-F238E27FC236}">
                <a16:creationId xmlns:a16="http://schemas.microsoft.com/office/drawing/2014/main" id="{050130A1-2B8B-675B-A947-EED4065276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9657" y="1394658"/>
            <a:ext cx="11282710" cy="2690780"/>
          </a:xfrm>
          <a:prstGeom prst="rect">
            <a:avLst/>
          </a:prstGeom>
        </p:spPr>
      </p:pic>
      <p:pic>
        <p:nvPicPr>
          <p:cNvPr id="6" name="Picture 5">
            <a:extLst>
              <a:ext uri="{FF2B5EF4-FFF2-40B4-BE49-F238E27FC236}">
                <a16:creationId xmlns:a16="http://schemas.microsoft.com/office/drawing/2014/main" id="{44493896-89AA-C122-3F23-F86B8D2C2A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9657" y="4204590"/>
            <a:ext cx="5731510" cy="2024235"/>
          </a:xfrm>
          <a:prstGeom prst="rect">
            <a:avLst/>
          </a:prstGeom>
        </p:spPr>
      </p:pic>
      <p:pic>
        <p:nvPicPr>
          <p:cNvPr id="7" name="Picture 6" descr="A screen shot of a computer&#10;&#10;AI-generated content may be incorrect.">
            <a:extLst>
              <a:ext uri="{FF2B5EF4-FFF2-40B4-BE49-F238E27FC236}">
                <a16:creationId xmlns:a16="http://schemas.microsoft.com/office/drawing/2014/main" id="{E77706F6-6992-91D9-1584-6DC468FC8E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8338" y="4204589"/>
            <a:ext cx="5464029" cy="2024235"/>
          </a:xfrm>
          <a:prstGeom prst="rect">
            <a:avLst/>
          </a:prstGeom>
        </p:spPr>
      </p:pic>
    </p:spTree>
    <p:extLst>
      <p:ext uri="{BB962C8B-B14F-4D97-AF65-F5344CB8AC3E}">
        <p14:creationId xmlns:p14="http://schemas.microsoft.com/office/powerpoint/2010/main" val="340950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952202-2C5B-B0BF-0237-FF05B7501D2B}"/>
              </a:ext>
            </a:extLst>
          </p:cNvPr>
          <p:cNvSpPr txBox="1"/>
          <p:nvPr/>
        </p:nvSpPr>
        <p:spPr>
          <a:xfrm>
            <a:off x="413473" y="363012"/>
            <a:ext cx="4855470" cy="1201353"/>
          </a:xfrm>
          <a:prstGeom prst="rect">
            <a:avLst/>
          </a:prstGeom>
        </p:spPr>
        <p:txBody>
          <a:bodyPr vert="horz" lIns="91440" tIns="45720" rIns="91440" bIns="45720" rtlCol="0" anchor="ctr">
            <a:normAutofit/>
          </a:bodyPr>
          <a:lstStyle/>
          <a:p>
            <a:pPr>
              <a:lnSpc>
                <a:spcPct val="90000"/>
              </a:lnSpc>
              <a:spcBef>
                <a:spcPct val="0"/>
              </a:spcBef>
              <a:spcAft>
                <a:spcPts val="600"/>
              </a:spcAft>
            </a:pPr>
            <a:endParaRPr lang="en-US" sz="3700" kern="1200" dirty="0">
              <a:solidFill>
                <a:schemeClr val="tx1"/>
              </a:solidFill>
              <a:latin typeface="+mj-lt"/>
              <a:ea typeface="+mj-ea"/>
              <a:cs typeface="+mj-cs"/>
            </a:endParaRPr>
          </a:p>
        </p:txBody>
      </p:sp>
      <p:sp>
        <p:nvSpPr>
          <p:cNvPr id="3" name="TextBox 2">
            <a:extLst>
              <a:ext uri="{FF2B5EF4-FFF2-40B4-BE49-F238E27FC236}">
                <a16:creationId xmlns:a16="http://schemas.microsoft.com/office/drawing/2014/main" id="{F282F20A-9E35-9ED7-DD55-82C5FC5E158A}"/>
              </a:ext>
            </a:extLst>
          </p:cNvPr>
          <p:cNvSpPr txBox="1"/>
          <p:nvPr/>
        </p:nvSpPr>
        <p:spPr>
          <a:xfrm>
            <a:off x="0" y="494950"/>
            <a:ext cx="9468758" cy="2308324"/>
          </a:xfrm>
          <a:prstGeom prst="rect">
            <a:avLst/>
          </a:prstGeom>
          <a:noFill/>
        </p:spPr>
        <p:txBody>
          <a:bodyPr wrap="square" rtlCol="0">
            <a:spAutoFit/>
          </a:bodyPr>
          <a:lstStyle/>
          <a:p>
            <a:pPr marL="742950" lvl="1" indent="-285750">
              <a:buFont typeface="Arial" panose="020B0604020202020204" pitchFamily="34" charset="0"/>
              <a:buChar char="•"/>
            </a:pPr>
            <a:r>
              <a:rPr lang="en-IN" b="1" dirty="0" err="1"/>
              <a:t>Axis_last</a:t>
            </a:r>
            <a:r>
              <a:rPr lang="en-IN" b="1" dirty="0"/>
              <a:t> behaviour – BUG3 (Specification Bug)</a:t>
            </a:r>
            <a:endParaRPr lang="en-IN" dirty="0"/>
          </a:p>
          <a:p>
            <a:pPr marL="1200150" lvl="2" indent="-285750">
              <a:buFont typeface="Arial" panose="020B0604020202020204" pitchFamily="34" charset="0"/>
              <a:buChar char="•"/>
            </a:pPr>
            <a:r>
              <a:rPr lang="en-IN" dirty="0"/>
              <a:t>According to the initial specification the </a:t>
            </a:r>
            <a:r>
              <a:rPr lang="en-IN" dirty="0" err="1"/>
              <a:t>axis_last</a:t>
            </a:r>
            <a:r>
              <a:rPr lang="en-IN" dirty="0"/>
              <a:t> signal should be triggered with the last byte of data, indicating the DUT that no more data will be sent.</a:t>
            </a:r>
          </a:p>
          <a:p>
            <a:pPr marL="1200150" lvl="2" indent="-285750">
              <a:buFont typeface="Arial" panose="020B0604020202020204" pitchFamily="34" charset="0"/>
              <a:buChar char="•"/>
            </a:pPr>
            <a:r>
              <a:rPr lang="en-IN" dirty="0"/>
              <a:t>While asserting the </a:t>
            </a:r>
            <a:r>
              <a:rPr lang="en-IN" dirty="0" err="1"/>
              <a:t>axis_last</a:t>
            </a:r>
            <a:r>
              <a:rPr lang="en-IN" dirty="0"/>
              <a:t> with the last byte of data ,was making us loose the last byte.</a:t>
            </a:r>
          </a:p>
          <a:p>
            <a:pPr marL="1200150" lvl="2" indent="-285750">
              <a:buFont typeface="Arial" panose="020B0604020202020204" pitchFamily="34" charset="0"/>
              <a:buChar char="•"/>
            </a:pPr>
            <a:r>
              <a:rPr lang="en-IN" dirty="0"/>
              <a:t>This was reported and the specification was changed mentioning that the </a:t>
            </a:r>
            <a:r>
              <a:rPr lang="en-IN" dirty="0" err="1"/>
              <a:t>asxis_last</a:t>
            </a:r>
            <a:r>
              <a:rPr lang="en-IN" dirty="0"/>
              <a:t> should be asserted 1 clock cycle after the last byte of data only.</a:t>
            </a:r>
          </a:p>
          <a:p>
            <a:endParaRPr lang="en-IN" dirty="0"/>
          </a:p>
        </p:txBody>
      </p:sp>
      <p:pic>
        <p:nvPicPr>
          <p:cNvPr id="4" name="Picture 3" descr="A screenshot of a computer&#10;&#10;AI-generated content may be incorrect.">
            <a:extLst>
              <a:ext uri="{FF2B5EF4-FFF2-40B4-BE49-F238E27FC236}">
                <a16:creationId xmlns:a16="http://schemas.microsoft.com/office/drawing/2014/main" id="{6DCFBFBF-079D-A29A-3A42-4BD0293C0D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823" y="2658588"/>
            <a:ext cx="5731510" cy="2077720"/>
          </a:xfrm>
          <a:prstGeom prst="rect">
            <a:avLst/>
          </a:prstGeom>
        </p:spPr>
      </p:pic>
      <p:pic>
        <p:nvPicPr>
          <p:cNvPr id="5" name="Picture 4" descr="A screen shot of a computer&#10;&#10;AI-generated content may be incorrect.">
            <a:extLst>
              <a:ext uri="{FF2B5EF4-FFF2-40B4-BE49-F238E27FC236}">
                <a16:creationId xmlns:a16="http://schemas.microsoft.com/office/drawing/2014/main" id="{9EBD40CE-5262-C49A-8F49-5378A7918E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1618" y="2658588"/>
            <a:ext cx="5519472" cy="2077720"/>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678183CD-5A55-1DB1-DA25-7BCCA9ED65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823" y="4848326"/>
            <a:ext cx="5731510" cy="1964410"/>
          </a:xfrm>
          <a:prstGeom prst="rect">
            <a:avLst/>
          </a:prstGeom>
        </p:spPr>
      </p:pic>
      <p:pic>
        <p:nvPicPr>
          <p:cNvPr id="7" name="Picture 6" descr="A screen shot of a computer&#10;&#10;AI-generated content may be incorrect.">
            <a:extLst>
              <a:ext uri="{FF2B5EF4-FFF2-40B4-BE49-F238E27FC236}">
                <a16:creationId xmlns:a16="http://schemas.microsoft.com/office/drawing/2014/main" id="{6DDE299F-19A2-750B-DC1A-C3511CBAAE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51618" y="4848326"/>
            <a:ext cx="5519472" cy="1964410"/>
          </a:xfrm>
          <a:prstGeom prst="rect">
            <a:avLst/>
          </a:prstGeom>
        </p:spPr>
      </p:pic>
    </p:spTree>
    <p:extLst>
      <p:ext uri="{BB962C8B-B14F-4D97-AF65-F5344CB8AC3E}">
        <p14:creationId xmlns:p14="http://schemas.microsoft.com/office/powerpoint/2010/main" val="205389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0DB325D-A564-5696-43D2-0032233CDF85}"/>
              </a:ext>
            </a:extLst>
          </p:cNvPr>
          <p:cNvSpPr txBox="1"/>
          <p:nvPr/>
        </p:nvSpPr>
        <p:spPr>
          <a:xfrm>
            <a:off x="-176169" y="385623"/>
            <a:ext cx="9328558" cy="923330"/>
          </a:xfrm>
          <a:prstGeom prst="rect">
            <a:avLst/>
          </a:prstGeom>
          <a:noFill/>
        </p:spPr>
        <p:txBody>
          <a:bodyPr wrap="square" rtlCol="0">
            <a:spAutoFit/>
          </a:bodyPr>
          <a:lstStyle/>
          <a:p>
            <a:pPr marL="742950" lvl="1" indent="-285750">
              <a:buFont typeface="Arial" panose="020B0604020202020204" pitchFamily="34" charset="0"/>
              <a:buChar char="•"/>
            </a:pPr>
            <a:r>
              <a:rPr lang="en-IN" b="1" dirty="0"/>
              <a:t>Multi Stream of data – BUG4</a:t>
            </a:r>
            <a:endParaRPr lang="en-IN" dirty="0"/>
          </a:p>
          <a:p>
            <a:pPr marL="1200150" lvl="2" indent="-285750">
              <a:buFont typeface="Arial" panose="020B0604020202020204" pitchFamily="34" charset="0"/>
              <a:buChar char="•"/>
            </a:pPr>
            <a:r>
              <a:rPr lang="en-IN" dirty="0"/>
              <a:t>After receiving the first stream of data successfully we immediately sent the next stream of data in that case the first 2 byte if next stream were missing.</a:t>
            </a:r>
          </a:p>
        </p:txBody>
      </p:sp>
      <p:pic>
        <p:nvPicPr>
          <p:cNvPr id="4" name="Picture 3" descr="A screenshot of a computer&#10;&#10;AI-generated content may be incorrect.">
            <a:extLst>
              <a:ext uri="{FF2B5EF4-FFF2-40B4-BE49-F238E27FC236}">
                <a16:creationId xmlns:a16="http://schemas.microsoft.com/office/drawing/2014/main" id="{9077CDE8-CC35-A93A-616F-979BF3D8F0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6945" y="1308953"/>
            <a:ext cx="9391906" cy="2331869"/>
          </a:xfrm>
          <a:prstGeom prst="rect">
            <a:avLst/>
          </a:prstGeom>
        </p:spPr>
      </p:pic>
      <p:pic>
        <p:nvPicPr>
          <p:cNvPr id="5" name="Picture 4" descr="A computer screen with green lines&#10;&#10;AI-generated content may be incorrect.">
            <a:extLst>
              <a:ext uri="{FF2B5EF4-FFF2-40B4-BE49-F238E27FC236}">
                <a16:creationId xmlns:a16="http://schemas.microsoft.com/office/drawing/2014/main" id="{09178391-0093-C481-DC6C-78570A1E2E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6945" y="3640822"/>
            <a:ext cx="9391907" cy="3117850"/>
          </a:xfrm>
          <a:prstGeom prst="rect">
            <a:avLst/>
          </a:prstGeom>
        </p:spPr>
      </p:pic>
    </p:spTree>
    <p:extLst>
      <p:ext uri="{BB962C8B-B14F-4D97-AF65-F5344CB8AC3E}">
        <p14:creationId xmlns:p14="http://schemas.microsoft.com/office/powerpoint/2010/main" val="13571337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361B5A-4968-7181-EEE9-9A4BFD1BF9DA}"/>
              </a:ext>
            </a:extLst>
          </p:cNvPr>
          <p:cNvSpPr txBox="1"/>
          <p:nvPr/>
        </p:nvSpPr>
        <p:spPr>
          <a:xfrm>
            <a:off x="-117446" y="679508"/>
            <a:ext cx="9227890" cy="1200329"/>
          </a:xfrm>
          <a:prstGeom prst="rect">
            <a:avLst/>
          </a:prstGeom>
          <a:noFill/>
        </p:spPr>
        <p:txBody>
          <a:bodyPr wrap="square" rtlCol="0">
            <a:spAutoFit/>
          </a:bodyPr>
          <a:lstStyle/>
          <a:p>
            <a:pPr marL="742950" lvl="1" indent="-285750">
              <a:buFont typeface="Arial" panose="020B0604020202020204" pitchFamily="34" charset="0"/>
              <a:buChar char="•"/>
            </a:pPr>
            <a:r>
              <a:rPr lang="en-IN" b="1" dirty="0"/>
              <a:t>RX_VALID triggering missed – BUG5</a:t>
            </a:r>
            <a:endParaRPr lang="en-IN" dirty="0"/>
          </a:p>
          <a:p>
            <a:pPr marL="1200150" lvl="2" indent="-285750">
              <a:buFont typeface="Arial" panose="020B0604020202020204" pitchFamily="34" charset="0"/>
              <a:buChar char="•"/>
            </a:pPr>
            <a:r>
              <a:rPr lang="en-IN" dirty="0"/>
              <a:t>While sending the stream of data we have observed that even when the parallel data and serial data are matching the RX valid signal is not triggered high for every first byte of data.</a:t>
            </a:r>
          </a:p>
        </p:txBody>
      </p:sp>
      <p:pic>
        <p:nvPicPr>
          <p:cNvPr id="3" name="Picture 2" descr="A screen shot of a computer&#10;&#10;AI-generated content may be incorrect.">
            <a:extLst>
              <a:ext uri="{FF2B5EF4-FFF2-40B4-BE49-F238E27FC236}">
                <a16:creationId xmlns:a16="http://schemas.microsoft.com/office/drawing/2014/main" id="{0766ECC9-398F-ECF9-84FE-D498772B20B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8320" y="1879837"/>
            <a:ext cx="10667999" cy="1920376"/>
          </a:xfrm>
          <a:prstGeom prst="rect">
            <a:avLst/>
          </a:prstGeom>
          <a:noFill/>
          <a:ln>
            <a:noFill/>
          </a:ln>
        </p:spPr>
      </p:pic>
      <p:sp>
        <p:nvSpPr>
          <p:cNvPr id="4" name="TextBox 3">
            <a:extLst>
              <a:ext uri="{FF2B5EF4-FFF2-40B4-BE49-F238E27FC236}">
                <a16:creationId xmlns:a16="http://schemas.microsoft.com/office/drawing/2014/main" id="{68113141-64BD-E94C-DD64-51D804CD6D52}"/>
              </a:ext>
            </a:extLst>
          </p:cNvPr>
          <p:cNvSpPr txBox="1"/>
          <p:nvPr/>
        </p:nvSpPr>
        <p:spPr>
          <a:xfrm>
            <a:off x="428321" y="4186106"/>
            <a:ext cx="8028264"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RX_VALID  triggering for the data we didn’t send – BUG6 (Specification bug)</a:t>
            </a:r>
          </a:p>
        </p:txBody>
      </p:sp>
      <p:pic>
        <p:nvPicPr>
          <p:cNvPr id="2050" name="Picture 2">
            <a:extLst>
              <a:ext uri="{FF2B5EF4-FFF2-40B4-BE49-F238E27FC236}">
                <a16:creationId xmlns:a16="http://schemas.microsoft.com/office/drawing/2014/main" id="{177F3B7E-9711-9D56-38FB-98228B0D58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321" y="4555439"/>
            <a:ext cx="10668000" cy="2013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982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98E5332-F38D-AB4A-7C1C-208205CA0A30}"/>
              </a:ext>
            </a:extLst>
          </p:cNvPr>
          <p:cNvGraphicFramePr>
            <a:graphicFrameLocks noGrp="1"/>
          </p:cNvGraphicFramePr>
          <p:nvPr>
            <p:extLst>
              <p:ext uri="{D42A27DB-BD31-4B8C-83A1-F6EECF244321}">
                <p14:modId xmlns:p14="http://schemas.microsoft.com/office/powerpoint/2010/main" val="360786110"/>
              </p:ext>
            </p:extLst>
          </p:nvPr>
        </p:nvGraphicFramePr>
        <p:xfrm>
          <a:off x="401970" y="578841"/>
          <a:ext cx="9270535" cy="5918683"/>
        </p:xfrm>
        <a:graphic>
          <a:graphicData uri="http://schemas.openxmlformats.org/drawingml/2006/table">
            <a:tbl>
              <a:tblPr>
                <a:tableStyleId>{616DA210-FB5B-4158-B5E0-FEB733F419BA}</a:tableStyleId>
              </a:tblPr>
              <a:tblGrid>
                <a:gridCol w="536775">
                  <a:extLst>
                    <a:ext uri="{9D8B030D-6E8A-4147-A177-3AD203B41FA5}">
                      <a16:colId xmlns:a16="http://schemas.microsoft.com/office/drawing/2014/main" val="3429602619"/>
                    </a:ext>
                  </a:extLst>
                </a:gridCol>
                <a:gridCol w="2068817">
                  <a:extLst>
                    <a:ext uri="{9D8B030D-6E8A-4147-A177-3AD203B41FA5}">
                      <a16:colId xmlns:a16="http://schemas.microsoft.com/office/drawing/2014/main" val="251908838"/>
                    </a:ext>
                  </a:extLst>
                </a:gridCol>
                <a:gridCol w="4249461">
                  <a:extLst>
                    <a:ext uri="{9D8B030D-6E8A-4147-A177-3AD203B41FA5}">
                      <a16:colId xmlns:a16="http://schemas.microsoft.com/office/drawing/2014/main" val="88213775"/>
                    </a:ext>
                  </a:extLst>
                </a:gridCol>
                <a:gridCol w="1207741">
                  <a:extLst>
                    <a:ext uri="{9D8B030D-6E8A-4147-A177-3AD203B41FA5}">
                      <a16:colId xmlns:a16="http://schemas.microsoft.com/office/drawing/2014/main" val="747366200"/>
                    </a:ext>
                  </a:extLst>
                </a:gridCol>
                <a:gridCol w="1207741">
                  <a:extLst>
                    <a:ext uri="{9D8B030D-6E8A-4147-A177-3AD203B41FA5}">
                      <a16:colId xmlns:a16="http://schemas.microsoft.com/office/drawing/2014/main" val="73562638"/>
                    </a:ext>
                  </a:extLst>
                </a:gridCol>
              </a:tblGrid>
              <a:tr h="293858">
                <a:tc>
                  <a:txBody>
                    <a:bodyPr/>
                    <a:lstStyle/>
                    <a:p>
                      <a:pPr algn="ctr" fontAlgn="ctr">
                        <a:buNone/>
                      </a:pPr>
                      <a:r>
                        <a:rPr lang="en-IN" sz="1200" b="1" u="none" strike="noStrike" dirty="0">
                          <a:solidFill>
                            <a:srgbClr val="000000"/>
                          </a:solidFill>
                          <a:effectLst/>
                        </a:rPr>
                        <a:t>Sl.no</a:t>
                      </a:r>
                      <a:endParaRPr lang="en-IN" sz="1200" b="1" i="0" u="none" strike="noStrike" dirty="0">
                        <a:solidFill>
                          <a:srgbClr val="000000"/>
                        </a:solidFill>
                        <a:effectLst/>
                        <a:latin typeface="Calibri" panose="020F0502020204030204" pitchFamily="34" charset="0"/>
                      </a:endParaRPr>
                    </a:p>
                  </a:txBody>
                  <a:tcPr marL="3706" marR="3706" marT="3706" marB="26681" anchor="ctr">
                    <a:solidFill>
                      <a:schemeClr val="accent2"/>
                    </a:solidFill>
                  </a:tcPr>
                </a:tc>
                <a:tc>
                  <a:txBody>
                    <a:bodyPr/>
                    <a:lstStyle/>
                    <a:p>
                      <a:pPr algn="ctr" fontAlgn="ctr">
                        <a:buNone/>
                      </a:pPr>
                      <a:r>
                        <a:rPr lang="en-IN" sz="1200" b="1" u="none" strike="noStrike" dirty="0">
                          <a:solidFill>
                            <a:srgbClr val="000000"/>
                          </a:solidFill>
                          <a:effectLst/>
                        </a:rPr>
                        <a:t>Bug</a:t>
                      </a:r>
                      <a:endParaRPr lang="en-IN" sz="1200" b="1" i="0" u="none" strike="noStrike" dirty="0">
                        <a:solidFill>
                          <a:srgbClr val="000000"/>
                        </a:solidFill>
                        <a:effectLst/>
                        <a:latin typeface="Calibri" panose="020F0502020204030204" pitchFamily="34" charset="0"/>
                      </a:endParaRPr>
                    </a:p>
                  </a:txBody>
                  <a:tcPr marL="3706" marR="3706" marT="3706" marB="26681" anchor="ctr">
                    <a:solidFill>
                      <a:schemeClr val="accent2"/>
                    </a:solidFill>
                  </a:tcPr>
                </a:tc>
                <a:tc>
                  <a:txBody>
                    <a:bodyPr/>
                    <a:lstStyle/>
                    <a:p>
                      <a:pPr algn="ctr" fontAlgn="ctr">
                        <a:buNone/>
                      </a:pPr>
                      <a:r>
                        <a:rPr lang="en-IN" sz="1200" b="1" u="none" strike="noStrike" dirty="0">
                          <a:solidFill>
                            <a:srgbClr val="000000"/>
                          </a:solidFill>
                          <a:effectLst/>
                        </a:rPr>
                        <a:t>Description</a:t>
                      </a:r>
                      <a:endParaRPr lang="en-IN" sz="1200" b="1" i="0" u="none" strike="noStrike" dirty="0">
                        <a:solidFill>
                          <a:srgbClr val="000000"/>
                        </a:solidFill>
                        <a:effectLst/>
                        <a:latin typeface="Calibri" panose="020F0502020204030204" pitchFamily="34" charset="0"/>
                      </a:endParaRPr>
                    </a:p>
                  </a:txBody>
                  <a:tcPr marL="3706" marR="3706" marT="3706" marB="26681" anchor="ctr">
                    <a:solidFill>
                      <a:schemeClr val="accent2"/>
                    </a:solidFill>
                  </a:tcPr>
                </a:tc>
                <a:tc>
                  <a:txBody>
                    <a:bodyPr/>
                    <a:lstStyle/>
                    <a:p>
                      <a:pPr algn="ctr" fontAlgn="ctr">
                        <a:buNone/>
                      </a:pPr>
                      <a:r>
                        <a:rPr lang="en-IN" sz="1200" b="1" u="none" strike="noStrike" dirty="0">
                          <a:solidFill>
                            <a:srgbClr val="000000"/>
                          </a:solidFill>
                          <a:effectLst/>
                        </a:rPr>
                        <a:t>Status</a:t>
                      </a:r>
                      <a:endParaRPr lang="en-IN" sz="1200" b="1" i="0" u="none" strike="noStrike" dirty="0">
                        <a:solidFill>
                          <a:srgbClr val="000000"/>
                        </a:solidFill>
                        <a:effectLst/>
                        <a:latin typeface="Calibri" panose="020F0502020204030204" pitchFamily="34" charset="0"/>
                      </a:endParaRPr>
                    </a:p>
                  </a:txBody>
                  <a:tcPr marL="3706" marR="3706" marT="3706" marB="26681" anchor="ctr">
                    <a:solidFill>
                      <a:schemeClr val="accent2"/>
                    </a:solidFill>
                  </a:tcPr>
                </a:tc>
                <a:tc>
                  <a:txBody>
                    <a:bodyPr/>
                    <a:lstStyle/>
                    <a:p>
                      <a:pPr algn="ctr" fontAlgn="ctr">
                        <a:buNone/>
                      </a:pPr>
                      <a:r>
                        <a:rPr lang="en-US" sz="1200" b="1" i="0" u="none" strike="noStrike" dirty="0">
                          <a:solidFill>
                            <a:srgbClr val="000000"/>
                          </a:solidFill>
                          <a:effectLst/>
                          <a:latin typeface="Calibri" panose="020F0502020204030204" pitchFamily="34" charset="0"/>
                        </a:rPr>
                        <a:t>Type of BUG</a:t>
                      </a:r>
                      <a:endParaRPr lang="en-IN" sz="1200" b="1" i="0" u="none" strike="noStrike" dirty="0">
                        <a:solidFill>
                          <a:srgbClr val="000000"/>
                        </a:solidFill>
                        <a:effectLst/>
                        <a:latin typeface="Calibri" panose="020F0502020204030204" pitchFamily="34" charset="0"/>
                      </a:endParaRPr>
                    </a:p>
                  </a:txBody>
                  <a:tcPr marL="3706" marR="3706" marT="3706" marB="26681" anchor="ctr">
                    <a:solidFill>
                      <a:schemeClr val="accent2"/>
                    </a:solidFill>
                  </a:tcPr>
                </a:tc>
                <a:extLst>
                  <a:ext uri="{0D108BD9-81ED-4DB2-BD59-A6C34878D82A}">
                    <a16:rowId xmlns:a16="http://schemas.microsoft.com/office/drawing/2014/main" val="101198119"/>
                  </a:ext>
                </a:extLst>
              </a:tr>
              <a:tr h="742286">
                <a:tc>
                  <a:txBody>
                    <a:bodyPr/>
                    <a:lstStyle/>
                    <a:p>
                      <a:pPr algn="ctr" fontAlgn="ctr">
                        <a:buNone/>
                      </a:pPr>
                      <a:r>
                        <a:rPr lang="en-IN" sz="1200" b="1" u="none" strike="noStrike" dirty="0">
                          <a:solidFill>
                            <a:srgbClr val="000000"/>
                          </a:solidFill>
                          <a:effectLst/>
                        </a:rPr>
                        <a:t>1</a:t>
                      </a:r>
                      <a:endParaRPr lang="en-IN" sz="1200" b="1" i="0" u="none" strike="noStrike" dirty="0">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IN" sz="1200" b="1" u="none" strike="noStrike" dirty="0">
                          <a:solidFill>
                            <a:srgbClr val="000000"/>
                          </a:solidFill>
                          <a:effectLst/>
                        </a:rPr>
                        <a:t>Missing of last packet</a:t>
                      </a:r>
                      <a:endParaRPr lang="en-IN" sz="1200" b="1" i="0" u="none" strike="noStrike" dirty="0">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US" sz="1200" b="1" u="none" strike="noStrike" dirty="0">
                          <a:solidFill>
                            <a:srgbClr val="000000"/>
                          </a:solidFill>
                          <a:effectLst/>
                        </a:rPr>
                        <a:t>When N packets are </a:t>
                      </a:r>
                      <a:r>
                        <a:rPr lang="en-US" sz="1200" b="1" u="none" strike="noStrike" dirty="0" err="1">
                          <a:solidFill>
                            <a:srgbClr val="000000"/>
                          </a:solidFill>
                          <a:effectLst/>
                        </a:rPr>
                        <a:t>sent,we</a:t>
                      </a:r>
                      <a:r>
                        <a:rPr lang="en-US" sz="1200" b="1" u="none" strike="noStrike" dirty="0">
                          <a:solidFill>
                            <a:srgbClr val="000000"/>
                          </a:solidFill>
                          <a:effectLst/>
                        </a:rPr>
                        <a:t> receive only N-1 packets from </a:t>
                      </a:r>
                      <a:r>
                        <a:rPr lang="en-US" sz="1200" b="1" u="none" strike="noStrike" dirty="0" err="1">
                          <a:solidFill>
                            <a:srgbClr val="000000"/>
                          </a:solidFill>
                          <a:effectLst/>
                        </a:rPr>
                        <a:t>DUT,where</a:t>
                      </a:r>
                      <a:r>
                        <a:rPr lang="en-US" sz="1200" b="1" u="none" strike="noStrike" dirty="0">
                          <a:solidFill>
                            <a:srgbClr val="000000"/>
                          </a:solidFill>
                          <a:effectLst/>
                        </a:rPr>
                        <a:t> last data is missed.</a:t>
                      </a:r>
                      <a:br>
                        <a:rPr lang="en-US" sz="1200" b="1" u="none" strike="noStrike" dirty="0">
                          <a:solidFill>
                            <a:srgbClr val="000000"/>
                          </a:solidFill>
                          <a:effectLst/>
                        </a:rPr>
                      </a:br>
                      <a:endParaRPr lang="en-US" sz="1200" b="1" i="0" u="none" strike="noStrike" dirty="0">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IN" sz="1200" b="1" u="none" strike="noStrike" dirty="0">
                          <a:solidFill>
                            <a:srgbClr val="33C55A"/>
                          </a:solidFill>
                          <a:effectLst/>
                        </a:rPr>
                        <a:t>Solved</a:t>
                      </a:r>
                      <a:endParaRPr lang="en-IN" sz="1200" b="1" i="0" u="none" strike="noStrike" dirty="0">
                        <a:solidFill>
                          <a:srgbClr val="33C55A"/>
                        </a:solidFill>
                        <a:effectLst/>
                        <a:latin typeface="Calibri" panose="020F0502020204030204" pitchFamily="34" charset="0"/>
                      </a:endParaRPr>
                    </a:p>
                  </a:txBody>
                  <a:tcPr marL="3706" marR="3706" marT="3706" marB="26681" anchor="ctr"/>
                </a:tc>
                <a:tc>
                  <a:txBody>
                    <a:bodyPr/>
                    <a:lstStyle/>
                    <a:p>
                      <a:pPr algn="ctr" fontAlgn="ctr">
                        <a:buNone/>
                      </a:pPr>
                      <a:r>
                        <a:rPr lang="en-US" sz="1200" b="1" i="0" u="none" strike="noStrike" dirty="0">
                          <a:solidFill>
                            <a:srgbClr val="33C55A"/>
                          </a:solidFill>
                          <a:effectLst/>
                          <a:latin typeface="Calibri" panose="020F0502020204030204" pitchFamily="34" charset="0"/>
                        </a:rPr>
                        <a:t>DESIGN</a:t>
                      </a:r>
                      <a:endParaRPr lang="en-IN" sz="1200" b="1" i="0" u="none" strike="noStrike" dirty="0">
                        <a:solidFill>
                          <a:srgbClr val="33C55A"/>
                        </a:solidFill>
                        <a:effectLst/>
                        <a:latin typeface="Calibri" panose="020F0502020204030204" pitchFamily="34" charset="0"/>
                      </a:endParaRPr>
                    </a:p>
                  </a:txBody>
                  <a:tcPr marL="3706" marR="3706" marT="3706" marB="26681" anchor="ctr"/>
                </a:tc>
                <a:extLst>
                  <a:ext uri="{0D108BD9-81ED-4DB2-BD59-A6C34878D82A}">
                    <a16:rowId xmlns:a16="http://schemas.microsoft.com/office/drawing/2014/main" val="3353083887"/>
                  </a:ext>
                </a:extLst>
              </a:tr>
              <a:tr h="980941">
                <a:tc>
                  <a:txBody>
                    <a:bodyPr/>
                    <a:lstStyle/>
                    <a:p>
                      <a:pPr algn="ctr" fontAlgn="ctr">
                        <a:buNone/>
                      </a:pPr>
                      <a:r>
                        <a:rPr lang="en-IN" sz="1200" b="1" u="none" strike="noStrike">
                          <a:solidFill>
                            <a:srgbClr val="000000"/>
                          </a:solidFill>
                          <a:effectLst/>
                        </a:rPr>
                        <a:t>2</a:t>
                      </a:r>
                      <a:endParaRPr lang="en-IN" sz="1200" b="1" i="0" u="none" strike="noStrike">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US" sz="1200" b="1" u="none" strike="noStrike" dirty="0" err="1">
                          <a:solidFill>
                            <a:srgbClr val="000000"/>
                          </a:solidFill>
                          <a:effectLst/>
                        </a:rPr>
                        <a:t>axis_last</a:t>
                      </a:r>
                      <a:r>
                        <a:rPr lang="en-US" sz="1200" b="1" u="none" strike="noStrike" dirty="0">
                          <a:solidFill>
                            <a:srgbClr val="000000"/>
                          </a:solidFill>
                          <a:effectLst/>
                        </a:rPr>
                        <a:t> is not working </a:t>
                      </a:r>
                      <a:endParaRPr lang="en-US" sz="1200" b="1" i="0" u="none" strike="noStrike" dirty="0">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US" sz="1200" b="1" u="none" strike="noStrike" dirty="0">
                          <a:solidFill>
                            <a:srgbClr val="000000"/>
                          </a:solidFill>
                          <a:effectLst/>
                        </a:rPr>
                        <a:t>According to the </a:t>
                      </a:r>
                      <a:r>
                        <a:rPr lang="en-US" sz="1200" b="1" u="none" strike="noStrike" dirty="0" err="1">
                          <a:solidFill>
                            <a:srgbClr val="000000"/>
                          </a:solidFill>
                          <a:effectLst/>
                        </a:rPr>
                        <a:t>specification,axis_last</a:t>
                      </a:r>
                      <a:r>
                        <a:rPr lang="en-US" sz="1200" b="1" u="none" strike="noStrike" dirty="0">
                          <a:solidFill>
                            <a:srgbClr val="000000"/>
                          </a:solidFill>
                          <a:effectLst/>
                        </a:rPr>
                        <a:t> signal which needs to be asserted when the last packet of the stream is </a:t>
                      </a:r>
                      <a:r>
                        <a:rPr lang="en-US" sz="1200" b="1" u="none" strike="noStrike" dirty="0" err="1">
                          <a:solidFill>
                            <a:srgbClr val="000000"/>
                          </a:solidFill>
                          <a:effectLst/>
                        </a:rPr>
                        <a:t>sent,but</a:t>
                      </a:r>
                      <a:r>
                        <a:rPr lang="en-US" sz="1200" b="1" u="none" strike="noStrike" dirty="0">
                          <a:solidFill>
                            <a:srgbClr val="000000"/>
                          </a:solidFill>
                          <a:effectLst/>
                        </a:rPr>
                        <a:t> the last packet is not coming out from DUT.</a:t>
                      </a:r>
                      <a:endParaRPr lang="en-US" sz="1200" b="1" i="0" u="none" strike="noStrike" dirty="0">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IN" sz="1200" b="1" u="none" strike="noStrike" dirty="0">
                          <a:solidFill>
                            <a:srgbClr val="33C55A"/>
                          </a:solidFill>
                          <a:effectLst/>
                        </a:rPr>
                        <a:t>Specification changed</a:t>
                      </a:r>
                      <a:br>
                        <a:rPr lang="en-IN" sz="1200" b="1" u="none" strike="noStrike" dirty="0">
                          <a:solidFill>
                            <a:srgbClr val="33C55A"/>
                          </a:solidFill>
                          <a:effectLst/>
                        </a:rPr>
                      </a:br>
                      <a:endParaRPr lang="en-IN" sz="1200" b="1" i="0" u="none" strike="noStrike" dirty="0">
                        <a:solidFill>
                          <a:srgbClr val="33C55A"/>
                        </a:solidFill>
                        <a:effectLst/>
                        <a:latin typeface="Calibri" panose="020F0502020204030204" pitchFamily="34" charset="0"/>
                      </a:endParaRPr>
                    </a:p>
                  </a:txBody>
                  <a:tcPr marL="3706" marR="3706" marT="3706" marB="26681"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33C55A"/>
                          </a:solidFill>
                          <a:effectLst/>
                          <a:latin typeface="Calibri" panose="020F0502020204030204" pitchFamily="34" charset="0"/>
                        </a:rPr>
                        <a:t>SPECIFICATION</a:t>
                      </a:r>
                      <a:endParaRPr lang="en-IN" sz="1200" b="1" i="0" u="none" strike="noStrike" dirty="0">
                        <a:solidFill>
                          <a:srgbClr val="33C55A"/>
                        </a:solidFill>
                        <a:effectLst/>
                        <a:latin typeface="Calibri" panose="020F0502020204030204" pitchFamily="34" charset="0"/>
                      </a:endParaRPr>
                    </a:p>
                    <a:p>
                      <a:pPr algn="ctr" fontAlgn="ctr">
                        <a:buNone/>
                      </a:pPr>
                      <a:endParaRPr lang="en-IN" sz="1200" b="1" i="0" u="none" strike="noStrike" dirty="0">
                        <a:solidFill>
                          <a:srgbClr val="33C55A"/>
                        </a:solidFill>
                        <a:effectLst/>
                        <a:latin typeface="Calibri" panose="020F0502020204030204" pitchFamily="34" charset="0"/>
                      </a:endParaRPr>
                    </a:p>
                  </a:txBody>
                  <a:tcPr marL="3706" marR="3706" marT="3706" marB="26681" anchor="ctr"/>
                </a:tc>
                <a:extLst>
                  <a:ext uri="{0D108BD9-81ED-4DB2-BD59-A6C34878D82A}">
                    <a16:rowId xmlns:a16="http://schemas.microsoft.com/office/drawing/2014/main" val="1549020368"/>
                  </a:ext>
                </a:extLst>
              </a:tr>
              <a:tr h="980941">
                <a:tc>
                  <a:txBody>
                    <a:bodyPr/>
                    <a:lstStyle/>
                    <a:p>
                      <a:pPr algn="ctr" fontAlgn="ctr">
                        <a:buNone/>
                      </a:pPr>
                      <a:r>
                        <a:rPr lang="en-IN" sz="1200" b="1" u="none" strike="noStrike">
                          <a:solidFill>
                            <a:srgbClr val="000000"/>
                          </a:solidFill>
                          <a:effectLst/>
                        </a:rPr>
                        <a:t>3</a:t>
                      </a:r>
                      <a:endParaRPr lang="en-IN" sz="1200" b="1" i="0" u="none" strike="noStrike">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US" sz="1200" b="1" u="none" strike="noStrike">
                          <a:solidFill>
                            <a:srgbClr val="000000"/>
                          </a:solidFill>
                          <a:effectLst/>
                        </a:rPr>
                        <a:t>rx_valid is not asserted for first packet</a:t>
                      </a:r>
                      <a:endParaRPr lang="en-US" sz="1200" b="1" i="0" u="none" strike="noStrike">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US" sz="1200" b="1" u="none" strike="noStrike" dirty="0" err="1">
                          <a:solidFill>
                            <a:srgbClr val="000000"/>
                          </a:solidFill>
                          <a:effectLst/>
                        </a:rPr>
                        <a:t>rx_valid</a:t>
                      </a:r>
                      <a:r>
                        <a:rPr lang="en-US" sz="1200" b="1" u="none" strike="noStrike" dirty="0">
                          <a:solidFill>
                            <a:srgbClr val="000000"/>
                          </a:solidFill>
                          <a:effectLst/>
                        </a:rPr>
                        <a:t> which is asserted when the parity of parallel data and serial data are </a:t>
                      </a:r>
                      <a:r>
                        <a:rPr lang="en-US" sz="1200" b="1" u="none" strike="noStrike" dirty="0" err="1">
                          <a:solidFill>
                            <a:srgbClr val="000000"/>
                          </a:solidFill>
                          <a:effectLst/>
                        </a:rPr>
                        <a:t>matched,is</a:t>
                      </a:r>
                      <a:r>
                        <a:rPr lang="en-US" sz="1200" b="1" u="none" strike="noStrike" dirty="0">
                          <a:solidFill>
                            <a:srgbClr val="000000"/>
                          </a:solidFill>
                          <a:effectLst/>
                        </a:rPr>
                        <a:t> not getting asserted for the first packet of the stream even when parity is matching</a:t>
                      </a:r>
                      <a:br>
                        <a:rPr lang="en-US" sz="1200" b="1" u="none" strike="noStrike" dirty="0">
                          <a:solidFill>
                            <a:srgbClr val="000000"/>
                          </a:solidFill>
                          <a:effectLst/>
                        </a:rPr>
                      </a:br>
                      <a:endParaRPr lang="en-US" sz="1200" b="1" i="0" u="none" strike="noStrike" dirty="0">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IN" sz="1200" b="1" u="none" strike="noStrike" dirty="0">
                          <a:solidFill>
                            <a:srgbClr val="33C55A"/>
                          </a:solidFill>
                          <a:effectLst/>
                        </a:rPr>
                        <a:t>Solved</a:t>
                      </a:r>
                      <a:endParaRPr lang="en-IN" sz="1200" b="1" i="0" u="none" strike="noStrike" dirty="0">
                        <a:solidFill>
                          <a:srgbClr val="33C55A"/>
                        </a:solidFill>
                        <a:effectLst/>
                        <a:latin typeface="Calibri" panose="020F0502020204030204" pitchFamily="34" charset="0"/>
                      </a:endParaRPr>
                    </a:p>
                  </a:txBody>
                  <a:tcPr marL="3706" marR="3706" marT="3706" marB="26681"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33C55A"/>
                          </a:solidFill>
                          <a:effectLst/>
                          <a:latin typeface="Calibri" panose="020F0502020204030204" pitchFamily="34" charset="0"/>
                        </a:rPr>
                        <a:t>DESIGN</a:t>
                      </a:r>
                      <a:endParaRPr lang="en-IN" sz="1200" b="1" i="0" u="none" strike="noStrike" dirty="0">
                        <a:solidFill>
                          <a:srgbClr val="33C55A"/>
                        </a:solidFill>
                        <a:effectLst/>
                        <a:latin typeface="Calibri" panose="020F0502020204030204" pitchFamily="34" charset="0"/>
                      </a:endParaRPr>
                    </a:p>
                    <a:p>
                      <a:pPr algn="ctr" fontAlgn="ctr">
                        <a:buNone/>
                      </a:pPr>
                      <a:endParaRPr lang="en-IN" sz="1200" b="1" i="0" u="none" strike="noStrike" dirty="0">
                        <a:solidFill>
                          <a:srgbClr val="33C55A"/>
                        </a:solidFill>
                        <a:effectLst/>
                        <a:latin typeface="Calibri" panose="020F0502020204030204" pitchFamily="34" charset="0"/>
                      </a:endParaRPr>
                    </a:p>
                  </a:txBody>
                  <a:tcPr marL="3706" marR="3706" marT="3706" marB="26681" anchor="ctr"/>
                </a:tc>
                <a:extLst>
                  <a:ext uri="{0D108BD9-81ED-4DB2-BD59-A6C34878D82A}">
                    <a16:rowId xmlns:a16="http://schemas.microsoft.com/office/drawing/2014/main" val="4170910902"/>
                  </a:ext>
                </a:extLst>
              </a:tr>
              <a:tr h="1138033">
                <a:tc>
                  <a:txBody>
                    <a:bodyPr/>
                    <a:lstStyle/>
                    <a:p>
                      <a:pPr algn="ctr" fontAlgn="ctr">
                        <a:buNone/>
                      </a:pPr>
                      <a:r>
                        <a:rPr lang="en-IN" sz="1200" b="1" u="none" strike="noStrike">
                          <a:solidFill>
                            <a:srgbClr val="000000"/>
                          </a:solidFill>
                          <a:effectLst/>
                        </a:rPr>
                        <a:t>4</a:t>
                      </a:r>
                      <a:endParaRPr lang="en-IN" sz="1200" b="1" i="0" u="none" strike="noStrike">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IN" sz="1200" b="1" u="none" strike="noStrike">
                          <a:solidFill>
                            <a:srgbClr val="000000"/>
                          </a:solidFill>
                          <a:effectLst/>
                        </a:rPr>
                        <a:t>Junk value from DUT</a:t>
                      </a:r>
                      <a:endParaRPr lang="en-IN" sz="1200" b="1" i="0" u="none" strike="noStrike">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US" sz="1200" b="1" u="none" strike="noStrike" dirty="0">
                          <a:solidFill>
                            <a:srgbClr val="000000"/>
                          </a:solidFill>
                          <a:effectLst/>
                        </a:rPr>
                        <a:t>When multiple stream of packets are sent, if number of packets are greater than </a:t>
                      </a:r>
                      <a:r>
                        <a:rPr lang="en-US" sz="1200" b="1" u="none" strike="noStrike" dirty="0" err="1">
                          <a:solidFill>
                            <a:srgbClr val="000000"/>
                          </a:solidFill>
                          <a:effectLst/>
                        </a:rPr>
                        <a:t>fifo</a:t>
                      </a:r>
                      <a:r>
                        <a:rPr lang="en-US" sz="1200" b="1" u="none" strike="noStrike" dirty="0">
                          <a:solidFill>
                            <a:srgbClr val="000000"/>
                          </a:solidFill>
                          <a:effectLst/>
                        </a:rPr>
                        <a:t> size ,everything works </a:t>
                      </a:r>
                      <a:r>
                        <a:rPr lang="en-US" sz="1200" b="1" u="none" strike="noStrike" dirty="0" err="1">
                          <a:solidFill>
                            <a:srgbClr val="000000"/>
                          </a:solidFill>
                          <a:effectLst/>
                        </a:rPr>
                        <a:t>fine,but</a:t>
                      </a:r>
                      <a:r>
                        <a:rPr lang="en-US" sz="1200" b="1" u="none" strike="noStrike" dirty="0">
                          <a:solidFill>
                            <a:srgbClr val="000000"/>
                          </a:solidFill>
                          <a:effectLst/>
                        </a:rPr>
                        <a:t> when number of packets are less than </a:t>
                      </a:r>
                      <a:r>
                        <a:rPr lang="en-US" sz="1200" b="1" u="none" strike="noStrike" dirty="0" err="1">
                          <a:solidFill>
                            <a:srgbClr val="000000"/>
                          </a:solidFill>
                          <a:effectLst/>
                        </a:rPr>
                        <a:t>fifo</a:t>
                      </a:r>
                      <a:r>
                        <a:rPr lang="en-US" sz="1200" b="1" u="none" strike="noStrike" dirty="0">
                          <a:solidFill>
                            <a:srgbClr val="000000"/>
                          </a:solidFill>
                          <a:effectLst/>
                        </a:rPr>
                        <a:t> size the first stream comes out as expected , but in second stream first 2 packets are lost and instead of that a junk value comes from DUT and then rest 3 packets come out as expected.</a:t>
                      </a:r>
                      <a:br>
                        <a:rPr lang="en-US" sz="1200" b="1" u="none" strike="noStrike" dirty="0">
                          <a:solidFill>
                            <a:srgbClr val="000000"/>
                          </a:solidFill>
                          <a:effectLst/>
                        </a:rPr>
                      </a:br>
                      <a:endParaRPr lang="en-US" sz="1200" b="1" i="0" u="none" strike="noStrike" dirty="0">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US" sz="1200" b="1" i="0" u="none" strike="noStrike" dirty="0">
                          <a:solidFill>
                            <a:srgbClr val="33C55A"/>
                          </a:solidFill>
                          <a:effectLst/>
                          <a:latin typeface="Calibri" panose="020F0502020204030204" pitchFamily="34" charset="0"/>
                        </a:rPr>
                        <a:t>Solved</a:t>
                      </a:r>
                      <a:endParaRPr lang="en-IN" sz="1200" b="1" i="0" u="none" strike="noStrike" dirty="0">
                        <a:solidFill>
                          <a:srgbClr val="33C55A"/>
                        </a:solidFill>
                        <a:effectLst/>
                        <a:latin typeface="Calibri" panose="020F0502020204030204" pitchFamily="34" charset="0"/>
                      </a:endParaRPr>
                    </a:p>
                  </a:txBody>
                  <a:tcPr marL="3706" marR="3706" marT="3706" marB="26681"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33C55A"/>
                          </a:solidFill>
                          <a:effectLst/>
                          <a:latin typeface="Calibri" panose="020F0502020204030204" pitchFamily="34" charset="0"/>
                        </a:rPr>
                        <a:t>DESIGN</a:t>
                      </a:r>
                      <a:endParaRPr lang="en-IN" sz="1200" b="1" i="0" u="none" strike="noStrike" dirty="0">
                        <a:solidFill>
                          <a:srgbClr val="33C55A"/>
                        </a:solidFill>
                        <a:effectLst/>
                        <a:latin typeface="Calibri" panose="020F0502020204030204" pitchFamily="34" charset="0"/>
                      </a:endParaRPr>
                    </a:p>
                    <a:p>
                      <a:pPr algn="ctr" fontAlgn="ctr">
                        <a:buNone/>
                      </a:pPr>
                      <a:endParaRPr lang="en-IN" sz="1200" b="1" i="0" u="none" strike="noStrike" dirty="0">
                        <a:solidFill>
                          <a:srgbClr val="33C55A"/>
                        </a:solidFill>
                        <a:effectLst/>
                        <a:latin typeface="Calibri" panose="020F0502020204030204" pitchFamily="34" charset="0"/>
                      </a:endParaRPr>
                    </a:p>
                  </a:txBody>
                  <a:tcPr marL="3706" marR="3706" marT="3706" marB="26681" anchor="ctr"/>
                </a:tc>
                <a:extLst>
                  <a:ext uri="{0D108BD9-81ED-4DB2-BD59-A6C34878D82A}">
                    <a16:rowId xmlns:a16="http://schemas.microsoft.com/office/drawing/2014/main" val="2045571439"/>
                  </a:ext>
                </a:extLst>
              </a:tr>
              <a:tr h="805055">
                <a:tc>
                  <a:txBody>
                    <a:bodyPr/>
                    <a:lstStyle/>
                    <a:p>
                      <a:pPr algn="ctr" fontAlgn="ctr">
                        <a:buNone/>
                      </a:pPr>
                      <a:r>
                        <a:rPr lang="en-US" sz="1200" b="1" i="0" u="none" strike="noStrike" dirty="0">
                          <a:solidFill>
                            <a:srgbClr val="000000"/>
                          </a:solidFill>
                          <a:effectLst/>
                          <a:latin typeface="Calibri" panose="020F0502020204030204" pitchFamily="34" charset="0"/>
                        </a:rPr>
                        <a:t>5</a:t>
                      </a:r>
                      <a:endParaRPr lang="en-IN" sz="1200" b="1" i="0" u="none" strike="noStrike" dirty="0">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US" sz="1200" b="1" i="0" u="none" strike="noStrike" dirty="0" err="1">
                          <a:solidFill>
                            <a:srgbClr val="000000"/>
                          </a:solidFill>
                          <a:effectLst/>
                          <a:latin typeface="Calibri" panose="020F0502020204030204" pitchFamily="34" charset="0"/>
                        </a:rPr>
                        <a:t>Rx_valid</a:t>
                      </a:r>
                      <a:r>
                        <a:rPr lang="en-US" sz="1200" b="1" i="0" u="none" strike="noStrike" dirty="0">
                          <a:solidFill>
                            <a:srgbClr val="000000"/>
                          </a:solidFill>
                          <a:effectLst/>
                          <a:latin typeface="Calibri" panose="020F0502020204030204" pitchFamily="34" charset="0"/>
                        </a:rPr>
                        <a:t> asserting without data</a:t>
                      </a:r>
                      <a:endParaRPr lang="en-IN" sz="1200" b="1" i="0" u="none" strike="noStrike" dirty="0">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US" sz="1200" b="1" i="0" u="none" strike="noStrike" dirty="0">
                          <a:solidFill>
                            <a:srgbClr val="000000"/>
                          </a:solidFill>
                          <a:effectLst/>
                          <a:latin typeface="Calibri" panose="020F0502020204030204" pitchFamily="34" charset="0"/>
                        </a:rPr>
                        <a:t>Even when we are sending our first data as 137 with </a:t>
                      </a:r>
                      <a:r>
                        <a:rPr lang="en-US" sz="1200" b="1" i="0" u="none" strike="noStrike" dirty="0" err="1">
                          <a:solidFill>
                            <a:srgbClr val="000000"/>
                          </a:solidFill>
                          <a:effectLst/>
                          <a:latin typeface="Calibri" panose="020F0502020204030204" pitchFamily="34" charset="0"/>
                        </a:rPr>
                        <a:t>axis_valid</a:t>
                      </a:r>
                      <a:r>
                        <a:rPr lang="en-US" sz="1200" b="1" i="0" u="none" strike="noStrike" dirty="0">
                          <a:solidFill>
                            <a:srgbClr val="000000"/>
                          </a:solidFill>
                          <a:effectLst/>
                          <a:latin typeface="Calibri" panose="020F0502020204030204" pitchFamily="34" charset="0"/>
                        </a:rPr>
                        <a:t> , the </a:t>
                      </a:r>
                      <a:r>
                        <a:rPr lang="en-US" sz="1200" b="1" i="0" u="none" strike="noStrike" dirty="0" err="1">
                          <a:solidFill>
                            <a:srgbClr val="000000"/>
                          </a:solidFill>
                          <a:effectLst/>
                          <a:latin typeface="Calibri" panose="020F0502020204030204" pitchFamily="34" charset="0"/>
                        </a:rPr>
                        <a:t>rx</a:t>
                      </a:r>
                      <a:r>
                        <a:rPr lang="en-US" sz="1200" b="1" i="0" u="none" strike="noStrike" dirty="0">
                          <a:solidFill>
                            <a:srgbClr val="000000"/>
                          </a:solidFill>
                          <a:effectLst/>
                          <a:latin typeface="Calibri" panose="020F0502020204030204" pitchFamily="34" charset="0"/>
                        </a:rPr>
                        <a:t>-valid is asserting high for data – 0 which is default in the start this condition has not been mentioned in the spec</a:t>
                      </a:r>
                    </a:p>
                  </a:txBody>
                  <a:tcPr marL="3706" marR="3706" marT="3706" marB="26681" anchor="ctr"/>
                </a:tc>
                <a:tc>
                  <a:txBody>
                    <a:bodyPr/>
                    <a:lstStyle/>
                    <a:p>
                      <a:pPr algn="ctr" fontAlgn="ctr">
                        <a:buNone/>
                      </a:pPr>
                      <a:r>
                        <a:rPr lang="en-US" sz="1200" b="1" i="0" u="none" strike="noStrike" dirty="0">
                          <a:solidFill>
                            <a:srgbClr val="33C55A"/>
                          </a:solidFill>
                          <a:effectLst/>
                          <a:latin typeface="Calibri" panose="020F0502020204030204" pitchFamily="34" charset="0"/>
                        </a:rPr>
                        <a:t>Solved</a:t>
                      </a:r>
                      <a:endParaRPr lang="en-IN" sz="1200" b="1" i="0" u="none" strike="noStrike" dirty="0">
                        <a:solidFill>
                          <a:srgbClr val="33C55A"/>
                        </a:solidFill>
                        <a:effectLst/>
                        <a:latin typeface="Calibri" panose="020F0502020204030204" pitchFamily="34" charset="0"/>
                      </a:endParaRPr>
                    </a:p>
                  </a:txBody>
                  <a:tcPr marL="3706" marR="3706" marT="3706" marB="26681"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33C55A"/>
                          </a:solidFill>
                          <a:effectLst/>
                          <a:latin typeface="Calibri" panose="020F0502020204030204" pitchFamily="34" charset="0"/>
                        </a:rPr>
                        <a:t>SPECIFICATION</a:t>
                      </a:r>
                      <a:endParaRPr lang="en-IN" sz="1200" b="1" i="0" u="none" strike="noStrike" dirty="0">
                        <a:solidFill>
                          <a:srgbClr val="33C55A"/>
                        </a:solidFill>
                        <a:effectLst/>
                        <a:latin typeface="Calibri" panose="020F0502020204030204" pitchFamily="34" charset="0"/>
                      </a:endParaRPr>
                    </a:p>
                    <a:p>
                      <a:pPr algn="ctr" fontAlgn="ctr">
                        <a:buNone/>
                      </a:pPr>
                      <a:endParaRPr lang="en-IN" sz="1200" b="1" i="0" u="none" strike="noStrike" dirty="0">
                        <a:solidFill>
                          <a:srgbClr val="33C55A"/>
                        </a:solidFill>
                        <a:effectLst/>
                        <a:latin typeface="Calibri" panose="020F0502020204030204" pitchFamily="34" charset="0"/>
                      </a:endParaRPr>
                    </a:p>
                  </a:txBody>
                  <a:tcPr marL="3706" marR="3706" marT="3706" marB="26681" anchor="ctr"/>
                </a:tc>
                <a:extLst>
                  <a:ext uri="{0D108BD9-81ED-4DB2-BD59-A6C34878D82A}">
                    <a16:rowId xmlns:a16="http://schemas.microsoft.com/office/drawing/2014/main" val="568294080"/>
                  </a:ext>
                </a:extLst>
              </a:tr>
              <a:tr h="805055">
                <a:tc>
                  <a:txBody>
                    <a:bodyPr/>
                    <a:lstStyle/>
                    <a:p>
                      <a:pPr algn="ctr" fontAlgn="ctr">
                        <a:buNone/>
                      </a:pPr>
                      <a:r>
                        <a:rPr lang="en-US" sz="1200" b="1" i="0" u="none" strike="noStrike" dirty="0">
                          <a:solidFill>
                            <a:srgbClr val="000000"/>
                          </a:solidFill>
                          <a:effectLst/>
                          <a:latin typeface="Calibri" panose="020F0502020204030204" pitchFamily="34" charset="0"/>
                        </a:rPr>
                        <a:t>6</a:t>
                      </a:r>
                      <a:endParaRPr lang="en-IN" sz="1200" b="1" i="0" u="none" strike="noStrike" dirty="0">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US" sz="1200" b="1" i="0" u="none" strike="noStrike" dirty="0">
                          <a:solidFill>
                            <a:srgbClr val="000000"/>
                          </a:solidFill>
                          <a:effectLst/>
                          <a:latin typeface="Calibri" panose="020F0502020204030204" pitchFamily="34" charset="0"/>
                        </a:rPr>
                        <a:t>Reset </a:t>
                      </a:r>
                      <a:endParaRPr lang="en-IN" sz="1200" b="1" i="0" u="none" strike="noStrike" dirty="0">
                        <a:solidFill>
                          <a:srgbClr val="000000"/>
                        </a:solidFill>
                        <a:effectLst/>
                        <a:latin typeface="Calibri" panose="020F0502020204030204" pitchFamily="34" charset="0"/>
                      </a:endParaRPr>
                    </a:p>
                  </a:txBody>
                  <a:tcPr marL="3706" marR="3706" marT="3706" marB="26681" anchor="ctr"/>
                </a:tc>
                <a:tc>
                  <a:txBody>
                    <a:bodyPr/>
                    <a:lstStyle/>
                    <a:p>
                      <a:pPr algn="ctr" fontAlgn="ctr">
                        <a:buNone/>
                      </a:pPr>
                      <a:r>
                        <a:rPr lang="en-US" sz="1200" b="1" i="0" u="none" strike="noStrike" dirty="0">
                          <a:solidFill>
                            <a:srgbClr val="000000"/>
                          </a:solidFill>
                          <a:effectLst/>
                          <a:latin typeface="Calibri" panose="020F0502020204030204" pitchFamily="34" charset="0"/>
                        </a:rPr>
                        <a:t>When asserting the reset after some time the data which is present in the last and first was only coming </a:t>
                      </a:r>
                    </a:p>
                  </a:txBody>
                  <a:tcPr marL="3706" marR="3706" marT="3706" marB="26681" anchor="ctr"/>
                </a:tc>
                <a:tc>
                  <a:txBody>
                    <a:bodyPr/>
                    <a:lstStyle/>
                    <a:p>
                      <a:pPr algn="ctr" fontAlgn="ctr">
                        <a:buNone/>
                      </a:pPr>
                      <a:r>
                        <a:rPr lang="en-US" sz="1200" b="1" i="0" u="none" strike="noStrike" dirty="0">
                          <a:solidFill>
                            <a:srgbClr val="33C55A"/>
                          </a:solidFill>
                          <a:effectLst/>
                          <a:latin typeface="Calibri" panose="020F0502020204030204" pitchFamily="34" charset="0"/>
                        </a:rPr>
                        <a:t>Solved</a:t>
                      </a:r>
                      <a:endParaRPr lang="en-IN" sz="1200" b="1" i="0" u="none" strike="noStrike" dirty="0">
                        <a:solidFill>
                          <a:srgbClr val="33C55A"/>
                        </a:solidFill>
                        <a:effectLst/>
                        <a:latin typeface="Calibri" panose="020F0502020204030204" pitchFamily="34" charset="0"/>
                      </a:endParaRPr>
                    </a:p>
                  </a:txBody>
                  <a:tcPr marL="3706" marR="3706" marT="3706" marB="26681"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i="0" u="none" strike="noStrike" dirty="0">
                          <a:solidFill>
                            <a:srgbClr val="33C55A"/>
                          </a:solidFill>
                          <a:effectLst/>
                          <a:latin typeface="Calibri" panose="020F0502020204030204" pitchFamily="34" charset="0"/>
                        </a:rPr>
                        <a:t>DESIGN</a:t>
                      </a:r>
                      <a:endParaRPr lang="en-IN" sz="1200" b="1" i="0" u="none" strike="noStrike" dirty="0">
                        <a:solidFill>
                          <a:srgbClr val="33C55A"/>
                        </a:solidFill>
                        <a:effectLst/>
                        <a:latin typeface="Calibri" panose="020F0502020204030204" pitchFamily="34" charset="0"/>
                      </a:endParaRPr>
                    </a:p>
                    <a:p>
                      <a:pPr algn="ctr" fontAlgn="ctr">
                        <a:buNone/>
                      </a:pPr>
                      <a:endParaRPr lang="en-IN" sz="1200" b="1" i="0" u="none" strike="noStrike" dirty="0">
                        <a:solidFill>
                          <a:srgbClr val="33C55A"/>
                        </a:solidFill>
                        <a:effectLst/>
                        <a:latin typeface="Calibri" panose="020F0502020204030204" pitchFamily="34" charset="0"/>
                      </a:endParaRPr>
                    </a:p>
                  </a:txBody>
                  <a:tcPr marL="3706" marR="3706" marT="3706" marB="26681" anchor="ctr"/>
                </a:tc>
                <a:extLst>
                  <a:ext uri="{0D108BD9-81ED-4DB2-BD59-A6C34878D82A}">
                    <a16:rowId xmlns:a16="http://schemas.microsoft.com/office/drawing/2014/main" val="4053566385"/>
                  </a:ext>
                </a:extLst>
              </a:tr>
            </a:tbl>
          </a:graphicData>
        </a:graphic>
      </p:graphicFrame>
      <p:sp>
        <p:nvSpPr>
          <p:cNvPr id="3" name="TextBox 2">
            <a:extLst>
              <a:ext uri="{FF2B5EF4-FFF2-40B4-BE49-F238E27FC236}">
                <a16:creationId xmlns:a16="http://schemas.microsoft.com/office/drawing/2014/main" id="{0C4BB0D6-B6B5-0D99-7772-1A9C4088B0D1}"/>
              </a:ext>
            </a:extLst>
          </p:cNvPr>
          <p:cNvSpPr txBox="1"/>
          <p:nvPr/>
        </p:nvSpPr>
        <p:spPr>
          <a:xfrm>
            <a:off x="9915788" y="3429000"/>
            <a:ext cx="2357306" cy="523220"/>
          </a:xfrm>
          <a:prstGeom prst="rect">
            <a:avLst/>
          </a:prstGeom>
          <a:noFill/>
        </p:spPr>
        <p:txBody>
          <a:bodyPr wrap="square" rtlCol="0">
            <a:spAutoFit/>
          </a:bodyPr>
          <a:lstStyle/>
          <a:p>
            <a:pPr algn="ctr"/>
            <a:r>
              <a:rPr lang="en-US" sz="2800" b="1" u="sng" dirty="0"/>
              <a:t>BUG LOG</a:t>
            </a:r>
            <a:endParaRPr lang="en-IN" sz="2800" b="1" u="sng" dirty="0"/>
          </a:p>
        </p:txBody>
      </p:sp>
    </p:spTree>
    <p:extLst>
      <p:ext uri="{BB962C8B-B14F-4D97-AF65-F5344CB8AC3E}">
        <p14:creationId xmlns:p14="http://schemas.microsoft.com/office/powerpoint/2010/main" val="1748477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F1A784-80AD-486D-5812-15BB073FF925}"/>
              </a:ext>
            </a:extLst>
          </p:cNvPr>
          <p:cNvSpPr txBox="1"/>
          <p:nvPr/>
        </p:nvSpPr>
        <p:spPr>
          <a:xfrm>
            <a:off x="478173" y="738231"/>
            <a:ext cx="9513115"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FUNCTIONAL COVERAGE</a:t>
            </a:r>
            <a:endParaRPr lang="en-IN" b="1" dirty="0"/>
          </a:p>
        </p:txBody>
      </p:sp>
      <p:pic>
        <p:nvPicPr>
          <p:cNvPr id="3" name="Picture 2" descr="A screenshot of a computer&#10;&#10;AI-generated content may be incorrect.">
            <a:extLst>
              <a:ext uri="{FF2B5EF4-FFF2-40B4-BE49-F238E27FC236}">
                <a16:creationId xmlns:a16="http://schemas.microsoft.com/office/drawing/2014/main" id="{3AD61958-5D57-C234-BE80-05EBF1797F2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4215" y="1256147"/>
            <a:ext cx="9420353" cy="2592528"/>
          </a:xfrm>
          <a:prstGeom prst="rect">
            <a:avLst/>
          </a:prstGeom>
        </p:spPr>
      </p:pic>
      <p:pic>
        <p:nvPicPr>
          <p:cNvPr id="4" name="Picture 3" descr="A screenshot of a report&#10;&#10;AI-generated content may be incorrect.">
            <a:extLst>
              <a:ext uri="{FF2B5EF4-FFF2-40B4-BE49-F238E27FC236}">
                <a16:creationId xmlns:a16="http://schemas.microsoft.com/office/drawing/2014/main" id="{6426870C-AFAA-8439-5C20-7D1DDAA2D7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4214" y="3928550"/>
            <a:ext cx="9420353" cy="2665197"/>
          </a:xfrm>
          <a:prstGeom prst="rect">
            <a:avLst/>
          </a:prstGeom>
        </p:spPr>
      </p:pic>
    </p:spTree>
    <p:extLst>
      <p:ext uri="{BB962C8B-B14F-4D97-AF65-F5344CB8AC3E}">
        <p14:creationId xmlns:p14="http://schemas.microsoft.com/office/powerpoint/2010/main" val="17258422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631201-BECD-59E9-6DA3-516B16A36543}"/>
              </a:ext>
            </a:extLst>
          </p:cNvPr>
          <p:cNvSpPr txBox="1"/>
          <p:nvPr/>
        </p:nvSpPr>
        <p:spPr>
          <a:xfrm>
            <a:off x="234892" y="629174"/>
            <a:ext cx="9638950"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CODE COVERAGE WITHOUT EXCLUSION</a:t>
            </a:r>
            <a:endParaRPr lang="en-IN" b="1" dirty="0"/>
          </a:p>
        </p:txBody>
      </p:sp>
      <p:pic>
        <p:nvPicPr>
          <p:cNvPr id="4" name="Picture 3" descr="A screenshot of a document&#10;&#10;AI-generated content may be incorrect.">
            <a:extLst>
              <a:ext uri="{FF2B5EF4-FFF2-40B4-BE49-F238E27FC236}">
                <a16:creationId xmlns:a16="http://schemas.microsoft.com/office/drawing/2014/main" id="{2D3E8DC4-12D0-3C16-A513-33801D2E89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891" y="1196811"/>
            <a:ext cx="6379903" cy="5447269"/>
          </a:xfrm>
          <a:prstGeom prst="rect">
            <a:avLst/>
          </a:prstGeom>
        </p:spPr>
      </p:pic>
      <p:pic>
        <p:nvPicPr>
          <p:cNvPr id="5" name="Picture 4" descr="A screenshot of a web page&#10;&#10;AI-generated content may be incorrect.">
            <a:extLst>
              <a:ext uri="{FF2B5EF4-FFF2-40B4-BE49-F238E27FC236}">
                <a16:creationId xmlns:a16="http://schemas.microsoft.com/office/drawing/2014/main" id="{568D780A-FBA5-72AC-FD9E-1DF14DBF30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14795" y="1196812"/>
            <a:ext cx="5212715" cy="2853690"/>
          </a:xfrm>
          <a:prstGeom prst="rect">
            <a:avLst/>
          </a:prstGeom>
        </p:spPr>
      </p:pic>
      <p:pic>
        <p:nvPicPr>
          <p:cNvPr id="6" name="Picture 5" descr="A screenshot of a data&#10;&#10;AI-generated content may be incorrect.">
            <a:extLst>
              <a:ext uri="{FF2B5EF4-FFF2-40B4-BE49-F238E27FC236}">
                <a16:creationId xmlns:a16="http://schemas.microsoft.com/office/drawing/2014/main" id="{D0335AC1-1D76-21A8-2A94-90C6E6B297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4795" y="4120259"/>
            <a:ext cx="5212715" cy="2582546"/>
          </a:xfrm>
          <a:prstGeom prst="rect">
            <a:avLst/>
          </a:prstGeom>
        </p:spPr>
      </p:pic>
    </p:spTree>
    <p:extLst>
      <p:ext uri="{BB962C8B-B14F-4D97-AF65-F5344CB8AC3E}">
        <p14:creationId xmlns:p14="http://schemas.microsoft.com/office/powerpoint/2010/main" val="18823468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53A9B0-CDEB-A227-5B23-8FB57E593B48}"/>
              </a:ext>
            </a:extLst>
          </p:cNvPr>
          <p:cNvSpPr txBox="1"/>
          <p:nvPr/>
        </p:nvSpPr>
        <p:spPr>
          <a:xfrm>
            <a:off x="260059" y="662730"/>
            <a:ext cx="9529893"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Reason of Less Code Coverage</a:t>
            </a:r>
            <a:endParaRPr lang="en-IN" b="1" dirty="0"/>
          </a:p>
        </p:txBody>
      </p:sp>
      <p:pic>
        <p:nvPicPr>
          <p:cNvPr id="3074" name="Picture 2">
            <a:extLst>
              <a:ext uri="{FF2B5EF4-FFF2-40B4-BE49-F238E27FC236}">
                <a16:creationId xmlns:a16="http://schemas.microsoft.com/office/drawing/2014/main" id="{2F5099E6-9E27-07E6-0C8D-FB7A01427F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2048" y="1245632"/>
            <a:ext cx="6705600" cy="510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0845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752729-4AE3-D12B-FDB8-5C2AA8D970AF}"/>
              </a:ext>
            </a:extLst>
          </p:cNvPr>
          <p:cNvSpPr txBox="1"/>
          <p:nvPr/>
        </p:nvSpPr>
        <p:spPr>
          <a:xfrm>
            <a:off x="377505" y="713064"/>
            <a:ext cx="9462781"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CODE COVERAGE AFTER EXCLUSION</a:t>
            </a:r>
            <a:endParaRPr lang="en-IN" b="1" dirty="0"/>
          </a:p>
        </p:txBody>
      </p:sp>
      <p:pic>
        <p:nvPicPr>
          <p:cNvPr id="1026" name="Picture 2">
            <a:extLst>
              <a:ext uri="{FF2B5EF4-FFF2-40B4-BE49-F238E27FC236}">
                <a16:creationId xmlns:a16="http://schemas.microsoft.com/office/drawing/2014/main" id="{765F6E28-CBC9-9DF4-90C4-96AA9222C6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4256" y="1233585"/>
            <a:ext cx="7986974" cy="5389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21986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CDCABA-CDEE-25E6-9C05-6B5803E1CADD}"/>
              </a:ext>
            </a:extLst>
          </p:cNvPr>
          <p:cNvSpPr txBox="1"/>
          <p:nvPr/>
        </p:nvSpPr>
        <p:spPr>
          <a:xfrm>
            <a:off x="251670" y="637563"/>
            <a:ext cx="9613783" cy="369332"/>
          </a:xfrm>
          <a:prstGeom prst="rect">
            <a:avLst/>
          </a:prstGeom>
          <a:noFill/>
        </p:spPr>
        <p:txBody>
          <a:bodyPr wrap="square" rtlCol="0">
            <a:spAutoFit/>
          </a:bodyPr>
          <a:lstStyle/>
          <a:p>
            <a:pPr marL="285750" indent="-285750">
              <a:buFont typeface="Arial" panose="020B0604020202020204" pitchFamily="34" charset="0"/>
              <a:buChar char="•"/>
            </a:pPr>
            <a:r>
              <a:rPr lang="en-US" b="1" dirty="0"/>
              <a:t>Overall Coverage</a:t>
            </a:r>
            <a:endParaRPr lang="en-IN" b="1" dirty="0"/>
          </a:p>
        </p:txBody>
      </p:sp>
      <p:pic>
        <p:nvPicPr>
          <p:cNvPr id="3" name="Picture 2" descr="A screenshot of a report&#10;&#10;AI-generated content may be incorrect.">
            <a:extLst>
              <a:ext uri="{FF2B5EF4-FFF2-40B4-BE49-F238E27FC236}">
                <a16:creationId xmlns:a16="http://schemas.microsoft.com/office/drawing/2014/main" id="{07E8C997-E3B0-717E-6BE7-8F8DB9AFCA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1052" y="1231492"/>
            <a:ext cx="9395186" cy="5196894"/>
          </a:xfrm>
          <a:prstGeom prst="rect">
            <a:avLst/>
          </a:prstGeom>
        </p:spPr>
      </p:pic>
    </p:spTree>
    <p:extLst>
      <p:ext uri="{BB962C8B-B14F-4D97-AF65-F5344CB8AC3E}">
        <p14:creationId xmlns:p14="http://schemas.microsoft.com/office/powerpoint/2010/main" val="2974603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FBD43-8084-0693-D5A5-5D3433C3EFD6}"/>
              </a:ext>
            </a:extLst>
          </p:cNvPr>
          <p:cNvSpPr>
            <a:spLocks noGrp="1"/>
          </p:cNvSpPr>
          <p:nvPr>
            <p:ph type="title"/>
          </p:nvPr>
        </p:nvSpPr>
        <p:spPr/>
        <p:txBody>
          <a:bodyPr/>
          <a:lstStyle/>
          <a:p>
            <a:r>
              <a:rPr lang="en-US" b="1" dirty="0"/>
              <a:t>Assertions</a:t>
            </a:r>
            <a:r>
              <a:rPr lang="en-US" dirty="0"/>
              <a:t> </a:t>
            </a:r>
            <a:endParaRPr lang="en-IN" dirty="0"/>
          </a:p>
        </p:txBody>
      </p:sp>
      <p:graphicFrame>
        <p:nvGraphicFramePr>
          <p:cNvPr id="3" name="Table 2">
            <a:extLst>
              <a:ext uri="{FF2B5EF4-FFF2-40B4-BE49-F238E27FC236}">
                <a16:creationId xmlns:a16="http://schemas.microsoft.com/office/drawing/2014/main" id="{5B21E840-6288-BF0D-2FFE-F414E7E0AC93}"/>
              </a:ext>
            </a:extLst>
          </p:cNvPr>
          <p:cNvGraphicFramePr>
            <a:graphicFrameLocks noGrp="1"/>
          </p:cNvGraphicFramePr>
          <p:nvPr>
            <p:extLst>
              <p:ext uri="{D42A27DB-BD31-4B8C-83A1-F6EECF244321}">
                <p14:modId xmlns:p14="http://schemas.microsoft.com/office/powerpoint/2010/main" val="3443048754"/>
              </p:ext>
            </p:extLst>
          </p:nvPr>
        </p:nvGraphicFramePr>
        <p:xfrm>
          <a:off x="1707615" y="1572154"/>
          <a:ext cx="8139117" cy="5118312"/>
        </p:xfrm>
        <a:graphic>
          <a:graphicData uri="http://schemas.openxmlformats.org/drawingml/2006/table">
            <a:tbl>
              <a:tblPr firstRow="1" bandRow="1">
                <a:tableStyleId>{5C22544A-7EE6-4342-B048-85BDC9FD1C3A}</a:tableStyleId>
              </a:tblPr>
              <a:tblGrid>
                <a:gridCol w="2713039">
                  <a:extLst>
                    <a:ext uri="{9D8B030D-6E8A-4147-A177-3AD203B41FA5}">
                      <a16:colId xmlns:a16="http://schemas.microsoft.com/office/drawing/2014/main" val="26861640"/>
                    </a:ext>
                  </a:extLst>
                </a:gridCol>
                <a:gridCol w="2713039">
                  <a:extLst>
                    <a:ext uri="{9D8B030D-6E8A-4147-A177-3AD203B41FA5}">
                      <a16:colId xmlns:a16="http://schemas.microsoft.com/office/drawing/2014/main" val="903855810"/>
                    </a:ext>
                  </a:extLst>
                </a:gridCol>
                <a:gridCol w="2713039">
                  <a:extLst>
                    <a:ext uri="{9D8B030D-6E8A-4147-A177-3AD203B41FA5}">
                      <a16:colId xmlns:a16="http://schemas.microsoft.com/office/drawing/2014/main" val="2234849075"/>
                    </a:ext>
                  </a:extLst>
                </a:gridCol>
              </a:tblGrid>
              <a:tr h="913236">
                <a:tc>
                  <a:txBody>
                    <a:bodyPr/>
                    <a:lstStyle/>
                    <a:p>
                      <a:pPr algn="ctr"/>
                      <a:r>
                        <a:rPr lang="en-US" b="1" dirty="0"/>
                        <a:t>Assertion </a:t>
                      </a:r>
                      <a:endParaRPr lang="en-IN" b="1" dirty="0"/>
                    </a:p>
                  </a:txBody>
                  <a:tcPr anchor="ctr"/>
                </a:tc>
                <a:tc>
                  <a:txBody>
                    <a:bodyPr/>
                    <a:lstStyle/>
                    <a:p>
                      <a:pPr algn="ctr"/>
                      <a:r>
                        <a:rPr lang="en-US" b="1" dirty="0"/>
                        <a:t>Description</a:t>
                      </a:r>
                      <a:endParaRPr lang="en-IN" b="1" dirty="0"/>
                    </a:p>
                  </a:txBody>
                  <a:tcPr anchor="ctr"/>
                </a:tc>
                <a:tc>
                  <a:txBody>
                    <a:bodyPr/>
                    <a:lstStyle/>
                    <a:p>
                      <a:pPr algn="ctr"/>
                      <a:r>
                        <a:rPr lang="en-US" b="1" dirty="0"/>
                        <a:t>Status</a:t>
                      </a:r>
                      <a:endParaRPr lang="en-IN" b="1" dirty="0"/>
                    </a:p>
                  </a:txBody>
                  <a:tcPr anchor="ctr"/>
                </a:tc>
                <a:extLst>
                  <a:ext uri="{0D108BD9-81ED-4DB2-BD59-A6C34878D82A}">
                    <a16:rowId xmlns:a16="http://schemas.microsoft.com/office/drawing/2014/main" val="81116380"/>
                  </a:ext>
                </a:extLst>
              </a:tr>
              <a:tr h="913236">
                <a:tc>
                  <a:txBody>
                    <a:bodyPr/>
                    <a:lstStyle/>
                    <a:p>
                      <a:pPr algn="ctr"/>
                      <a:r>
                        <a:rPr lang="en-US" b="1" dirty="0"/>
                        <a:t>RESET</a:t>
                      </a:r>
                      <a:endParaRPr lang="en-IN" b="1" dirty="0"/>
                    </a:p>
                  </a:txBody>
                  <a:tcPr anchor="ctr"/>
                </a:tc>
                <a:tc>
                  <a:txBody>
                    <a:bodyPr/>
                    <a:lstStyle/>
                    <a:p>
                      <a:pPr algn="ctr"/>
                      <a:r>
                        <a:rPr lang="en-US" b="1" dirty="0"/>
                        <a:t>While reset is asserted all the </a:t>
                      </a:r>
                      <a:r>
                        <a:rPr lang="en-US" b="1" dirty="0" err="1"/>
                        <a:t>ouputs</a:t>
                      </a:r>
                      <a:r>
                        <a:rPr lang="en-US" b="1" dirty="0"/>
                        <a:t> should be 0 except </a:t>
                      </a:r>
                      <a:r>
                        <a:rPr lang="en-US" b="1" dirty="0" err="1"/>
                        <a:t>m_axis_ready</a:t>
                      </a:r>
                      <a:endParaRPr lang="en-IN" b="1" dirty="0"/>
                    </a:p>
                  </a:txBody>
                  <a:tcPr anchor="ctr"/>
                </a:tc>
                <a:tc>
                  <a:txBody>
                    <a:bodyPr/>
                    <a:lstStyle/>
                    <a:p>
                      <a:pPr algn="ctr"/>
                      <a:r>
                        <a:rPr lang="en-US" b="1" dirty="0"/>
                        <a:t>PASS</a:t>
                      </a:r>
                      <a:endParaRPr lang="en-IN" b="1" dirty="0"/>
                    </a:p>
                  </a:txBody>
                  <a:tcPr anchor="ctr"/>
                </a:tc>
                <a:extLst>
                  <a:ext uri="{0D108BD9-81ED-4DB2-BD59-A6C34878D82A}">
                    <a16:rowId xmlns:a16="http://schemas.microsoft.com/office/drawing/2014/main" val="653966949"/>
                  </a:ext>
                </a:extLst>
              </a:tr>
              <a:tr h="913236">
                <a:tc>
                  <a:txBody>
                    <a:bodyPr/>
                    <a:lstStyle/>
                    <a:p>
                      <a:pPr algn="ctr"/>
                      <a:r>
                        <a:rPr lang="en-US" b="1" dirty="0"/>
                        <a:t>VALIDITY</a:t>
                      </a:r>
                      <a:endParaRPr lang="en-IN" b="1" dirty="0"/>
                    </a:p>
                  </a:txBody>
                  <a:tcPr anchor="ctr"/>
                </a:tc>
                <a:tc>
                  <a:txBody>
                    <a:bodyPr/>
                    <a:lstStyle/>
                    <a:p>
                      <a:pPr algn="ctr"/>
                      <a:r>
                        <a:rPr lang="en-US" b="1" dirty="0"/>
                        <a:t>When valid is asserted high then all the output </a:t>
                      </a:r>
                      <a:endParaRPr lang="en-IN"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PASS</a:t>
                      </a:r>
                      <a:endParaRPr lang="en-IN" b="1" dirty="0"/>
                    </a:p>
                    <a:p>
                      <a:pPr algn="ctr"/>
                      <a:endParaRPr lang="en-IN" b="1" dirty="0"/>
                    </a:p>
                  </a:txBody>
                  <a:tcPr anchor="ctr"/>
                </a:tc>
                <a:extLst>
                  <a:ext uri="{0D108BD9-81ED-4DB2-BD59-A6C34878D82A}">
                    <a16:rowId xmlns:a16="http://schemas.microsoft.com/office/drawing/2014/main" val="3083326261"/>
                  </a:ext>
                </a:extLst>
              </a:tr>
              <a:tr h="913236">
                <a:tc>
                  <a:txBody>
                    <a:bodyPr/>
                    <a:lstStyle/>
                    <a:p>
                      <a:pPr algn="ctr"/>
                      <a:r>
                        <a:rPr lang="en-US" b="1" dirty="0"/>
                        <a:t>OUTPUT _AFTER_4774</a:t>
                      </a:r>
                      <a:endParaRPr lang="en-IN" b="1" dirty="0"/>
                    </a:p>
                  </a:txBody>
                  <a:tcPr anchor="ctr"/>
                </a:tc>
                <a:tc>
                  <a:txBody>
                    <a:bodyPr/>
                    <a:lstStyle/>
                    <a:p>
                      <a:pPr algn="ctr"/>
                      <a:r>
                        <a:rPr lang="en-US" b="1" dirty="0"/>
                        <a:t>When </a:t>
                      </a:r>
                      <a:r>
                        <a:rPr lang="en-US" b="1" dirty="0" err="1"/>
                        <a:t>axis_data</a:t>
                      </a:r>
                      <a:r>
                        <a:rPr lang="en-US" b="1" dirty="0"/>
                        <a:t> is present the </a:t>
                      </a:r>
                      <a:r>
                        <a:rPr lang="en-US" b="1" dirty="0" err="1"/>
                        <a:t>rx_data</a:t>
                      </a:r>
                      <a:r>
                        <a:rPr lang="en-US" b="1" dirty="0"/>
                        <a:t> should be present after 4774 clock cycles </a:t>
                      </a:r>
                      <a:endParaRPr lang="en-IN"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PASS</a:t>
                      </a:r>
                      <a:endParaRPr lang="en-IN" b="1" dirty="0"/>
                    </a:p>
                    <a:p>
                      <a:pPr algn="ctr"/>
                      <a:endParaRPr lang="en-IN" b="1" dirty="0"/>
                    </a:p>
                  </a:txBody>
                  <a:tcPr anchor="ctr"/>
                </a:tc>
                <a:extLst>
                  <a:ext uri="{0D108BD9-81ED-4DB2-BD59-A6C34878D82A}">
                    <a16:rowId xmlns:a16="http://schemas.microsoft.com/office/drawing/2014/main" val="906394256"/>
                  </a:ext>
                </a:extLst>
              </a:tr>
              <a:tr h="913236">
                <a:tc>
                  <a:txBody>
                    <a:bodyPr/>
                    <a:lstStyle/>
                    <a:p>
                      <a:pPr algn="ctr"/>
                      <a:r>
                        <a:rPr lang="en-US" b="1" dirty="0" err="1"/>
                        <a:t>Parallel_serial</a:t>
                      </a:r>
                      <a:endParaRPr lang="en-IN" b="1" dirty="0"/>
                    </a:p>
                  </a:txBody>
                  <a:tcPr anchor="ctr"/>
                </a:tc>
                <a:tc>
                  <a:txBody>
                    <a:bodyPr/>
                    <a:lstStyle/>
                    <a:p>
                      <a:pPr algn="ctr"/>
                      <a:r>
                        <a:rPr lang="en-US" b="1" dirty="0"/>
                        <a:t>When RX_DATA is high, the serial data should be present and RX_VALID SHOULD BE HIGH </a:t>
                      </a:r>
                      <a:endParaRPr lang="en-IN"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PASS</a:t>
                      </a:r>
                      <a:endParaRPr lang="en-IN" b="1" dirty="0"/>
                    </a:p>
                    <a:p>
                      <a:pPr algn="ctr"/>
                      <a:endParaRPr lang="en-IN" b="1" dirty="0"/>
                    </a:p>
                  </a:txBody>
                  <a:tcPr anchor="ctr"/>
                </a:tc>
                <a:extLst>
                  <a:ext uri="{0D108BD9-81ED-4DB2-BD59-A6C34878D82A}">
                    <a16:rowId xmlns:a16="http://schemas.microsoft.com/office/drawing/2014/main" val="3502048108"/>
                  </a:ext>
                </a:extLst>
              </a:tr>
            </a:tbl>
          </a:graphicData>
        </a:graphic>
      </p:graphicFrame>
    </p:spTree>
    <p:extLst>
      <p:ext uri="{BB962C8B-B14F-4D97-AF65-F5344CB8AC3E}">
        <p14:creationId xmlns:p14="http://schemas.microsoft.com/office/powerpoint/2010/main" val="4054186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8267A-60C4-AE4E-07C4-802781B41D9F}"/>
              </a:ext>
            </a:extLst>
          </p:cNvPr>
          <p:cNvSpPr>
            <a:spLocks noGrp="1"/>
          </p:cNvSpPr>
          <p:nvPr>
            <p:ph type="title"/>
          </p:nvPr>
        </p:nvSpPr>
        <p:spPr/>
        <p:txBody>
          <a:bodyPr/>
          <a:lstStyle/>
          <a:p>
            <a:r>
              <a:rPr lang="en-US" b="1" dirty="0"/>
              <a:t>OUTPUT</a:t>
            </a:r>
            <a:endParaRPr lang="en-IN" b="1" dirty="0"/>
          </a:p>
        </p:txBody>
      </p:sp>
      <p:pic>
        <p:nvPicPr>
          <p:cNvPr id="4" name="Picture 3" descr="A close-up of a computer screen&#10;&#10;AI-generated content may be incorrect.">
            <a:extLst>
              <a:ext uri="{FF2B5EF4-FFF2-40B4-BE49-F238E27FC236}">
                <a16:creationId xmlns:a16="http://schemas.microsoft.com/office/drawing/2014/main" id="{E7C15DA5-2067-54ED-CCA0-D5AB94F96F9D}"/>
              </a:ext>
            </a:extLst>
          </p:cNvPr>
          <p:cNvPicPr>
            <a:picLocks noChangeAspect="1"/>
          </p:cNvPicPr>
          <p:nvPr/>
        </p:nvPicPr>
        <p:blipFill>
          <a:blip r:embed="rId2"/>
          <a:stretch>
            <a:fillRect/>
          </a:stretch>
        </p:blipFill>
        <p:spPr>
          <a:xfrm>
            <a:off x="713064" y="1402124"/>
            <a:ext cx="11003751" cy="5090751"/>
          </a:xfrm>
          <a:prstGeom prst="rect">
            <a:avLst/>
          </a:prstGeom>
        </p:spPr>
      </p:pic>
    </p:spTree>
    <p:extLst>
      <p:ext uri="{BB962C8B-B14F-4D97-AF65-F5344CB8AC3E}">
        <p14:creationId xmlns:p14="http://schemas.microsoft.com/office/powerpoint/2010/main" val="736818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ack text on a white background&#10;&#10;AI-generated content may be incorrect.">
            <a:extLst>
              <a:ext uri="{FF2B5EF4-FFF2-40B4-BE49-F238E27FC236}">
                <a16:creationId xmlns:a16="http://schemas.microsoft.com/office/drawing/2014/main" id="{5308DD2F-11BE-A3DA-C828-20139ED9D052}"/>
              </a:ext>
            </a:extLst>
          </p:cNvPr>
          <p:cNvPicPr>
            <a:picLocks noChangeAspect="1"/>
          </p:cNvPicPr>
          <p:nvPr/>
        </p:nvPicPr>
        <p:blipFill>
          <a:blip r:embed="rId2"/>
          <a:stretch>
            <a:fillRect/>
          </a:stretch>
        </p:blipFill>
        <p:spPr>
          <a:xfrm>
            <a:off x="348012" y="914924"/>
            <a:ext cx="9173493" cy="2092703"/>
          </a:xfrm>
          <a:prstGeom prst="rect">
            <a:avLst/>
          </a:prstGeom>
        </p:spPr>
      </p:pic>
      <p:pic>
        <p:nvPicPr>
          <p:cNvPr id="6" name="Picture 5" descr="A close-up of a screen&#10;&#10;AI-generated content may be incorrect.">
            <a:extLst>
              <a:ext uri="{FF2B5EF4-FFF2-40B4-BE49-F238E27FC236}">
                <a16:creationId xmlns:a16="http://schemas.microsoft.com/office/drawing/2014/main" id="{B3ECA390-7650-B519-7FB3-263FB0648198}"/>
              </a:ext>
            </a:extLst>
          </p:cNvPr>
          <p:cNvPicPr>
            <a:picLocks noChangeAspect="1"/>
          </p:cNvPicPr>
          <p:nvPr/>
        </p:nvPicPr>
        <p:blipFill>
          <a:blip r:embed="rId3"/>
          <a:stretch>
            <a:fillRect/>
          </a:stretch>
        </p:blipFill>
        <p:spPr>
          <a:xfrm>
            <a:off x="725648" y="3567494"/>
            <a:ext cx="10893105" cy="2638173"/>
          </a:xfrm>
          <a:prstGeom prst="rect">
            <a:avLst/>
          </a:prstGeom>
        </p:spPr>
      </p:pic>
    </p:spTree>
    <p:extLst>
      <p:ext uri="{BB962C8B-B14F-4D97-AF65-F5344CB8AC3E}">
        <p14:creationId xmlns:p14="http://schemas.microsoft.com/office/powerpoint/2010/main" val="3009356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9A2AE77C-FCAD-0330-E7BA-9B891F7012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13" y="1466339"/>
            <a:ext cx="9823508" cy="262539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3AB7221F-9733-E6EA-25DF-FCD53C547A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13" y="4335010"/>
            <a:ext cx="9823507" cy="2342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04154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1011</TotalTime>
  <Words>868</Words>
  <Application>Microsoft Office PowerPoint</Application>
  <PresentationFormat>Widescreen</PresentationFormat>
  <Paragraphs>134</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Arial</vt:lpstr>
      <vt:lpstr>Calibri</vt:lpstr>
      <vt:lpstr>Calibri Light</vt:lpstr>
      <vt:lpstr>Office Theme</vt:lpstr>
      <vt:lpstr>Tiny Tapeout Project   AXI Stream to UART Communication System </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Assertions </vt:lpstr>
      <vt:lpstr>OUTPUT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chhabranaveen@mirafra2.onmicrosoft.com</dc:creator>
  <cp:lastModifiedBy>Vadali Kirti Krishna  Vamsi</cp:lastModifiedBy>
  <cp:revision>34</cp:revision>
  <dcterms:created xsi:type="dcterms:W3CDTF">2021-05-03T10:05:34Z</dcterms:created>
  <dcterms:modified xsi:type="dcterms:W3CDTF">2025-11-04T08:56:17Z</dcterms:modified>
</cp:coreProperties>
</file>